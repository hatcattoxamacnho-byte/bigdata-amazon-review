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lear Sans Medium" charset="1" panose="020B0603030202020304"/>
      <p:regular r:id="rId27"/>
    </p:embeddedFont>
    <p:embeddedFont>
      <p:font typeface="Bobby Jones" charset="1" panose="00000000000000000000"/>
      <p:regular r:id="rId28"/>
    </p:embeddedFont>
    <p:embeddedFont>
      <p:font typeface="TT Fors Bold" charset="1" panose="020B0003030001020000"/>
      <p:regular r:id="rId29"/>
    </p:embeddedFont>
    <p:embeddedFont>
      <p:font typeface="DM Sans Bold" charset="1" panose="00000000000000000000"/>
      <p:regular r:id="rId30"/>
    </p:embeddedFont>
    <p:embeddedFont>
      <p:font typeface="Proxima Nova Bold" charset="1" panose="02000506030000020004"/>
      <p:regular r:id="rId31"/>
    </p:embeddedFont>
    <p:embeddedFont>
      <p:font typeface="TT Fors" charset="1" panose="020B0003030001020000"/>
      <p:regular r:id="rId32"/>
    </p:embeddedFont>
    <p:embeddedFont>
      <p:font typeface="DM Sans" charset="1" panose="00000000000000000000"/>
      <p:regular r:id="rId33"/>
    </p:embeddedFont>
    <p:embeddedFont>
      <p:font typeface="Clear Sans" charset="1" panose="020B0503030202020304"/>
      <p:regular r:id="rId34"/>
    </p:embeddedFont>
    <p:embeddedFont>
      <p:font typeface="Rubik Medium" charset="1" panose="000006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3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embeddings/oleObject2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3.bin" Type="http://schemas.openxmlformats.org/officeDocument/2006/relationships/oleObject"/><Relationship Id="rId11" Target="../media/image42.png" Type="http://schemas.openxmlformats.org/officeDocument/2006/relationships/image"/><Relationship Id="rId12" Target="../media/image43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5" r="0" b="-176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799999">
            <a:off x="-1259256" y="9258300"/>
            <a:ext cx="4710902" cy="2355451"/>
          </a:xfrm>
          <a:custGeom>
            <a:avLst/>
            <a:gdLst/>
            <a:ahLst/>
            <a:cxnLst/>
            <a:rect r="r" b="b" t="t" l="l"/>
            <a:pathLst>
              <a:path h="2355451" w="4710902">
                <a:moveTo>
                  <a:pt x="0" y="0"/>
                </a:moveTo>
                <a:lnTo>
                  <a:pt x="4710902" y="0"/>
                </a:lnTo>
                <a:lnTo>
                  <a:pt x="4710902" y="2355451"/>
                </a:lnTo>
                <a:lnTo>
                  <a:pt x="0" y="2355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22407" y="387365"/>
            <a:ext cx="5134096" cy="1282671"/>
            <a:chOff x="0" y="0"/>
            <a:chExt cx="6845461" cy="17102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2449" cy="1710228"/>
            </a:xfrm>
            <a:custGeom>
              <a:avLst/>
              <a:gdLst/>
              <a:ahLst/>
              <a:cxnLst/>
              <a:rect r="r" b="b" t="t" l="l"/>
              <a:pathLst>
                <a:path h="1710228" w="1422449">
                  <a:moveTo>
                    <a:pt x="0" y="0"/>
                  </a:moveTo>
                  <a:lnTo>
                    <a:pt x="1422449" y="0"/>
                  </a:lnTo>
                  <a:lnTo>
                    <a:pt x="1422449" y="1710228"/>
                  </a:lnTo>
                  <a:lnTo>
                    <a:pt x="0" y="1710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149582" y="239461"/>
              <a:ext cx="5695879" cy="13146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49"/>
                </a:lnSpc>
              </a:pPr>
              <a:r>
                <a:rPr lang="en-US" b="true" sz="5963">
                  <a:solidFill>
                    <a:srgbClr val="000000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BIG DATA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751045" y="3777421"/>
            <a:ext cx="6536955" cy="6564441"/>
          </a:xfrm>
          <a:custGeom>
            <a:avLst/>
            <a:gdLst/>
            <a:ahLst/>
            <a:cxnLst/>
            <a:rect r="r" b="b" t="t" l="l"/>
            <a:pathLst>
              <a:path h="6564441" w="6536955">
                <a:moveTo>
                  <a:pt x="0" y="0"/>
                </a:moveTo>
                <a:lnTo>
                  <a:pt x="6536955" y="0"/>
                </a:lnTo>
                <a:lnTo>
                  <a:pt x="6536955" y="6564441"/>
                </a:lnTo>
                <a:lnTo>
                  <a:pt x="0" y="65644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90" t="-10768" r="-5460" b="-463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705822"/>
            <a:ext cx="10512466" cy="2818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6"/>
              </a:lnSpc>
            </a:pPr>
            <a:r>
              <a:rPr lang="en-US" sz="6756">
                <a:solidFill>
                  <a:srgbClr val="376A89"/>
                </a:solidFill>
                <a:latin typeface="Bobby Jones"/>
                <a:ea typeface="Bobby Jones"/>
                <a:cs typeface="Bobby Jones"/>
                <a:sym typeface="Bobby Jones"/>
              </a:rPr>
              <a:t>ANALYSIS FROM AMAZON </a:t>
            </a:r>
          </a:p>
          <a:p>
            <a:pPr algn="ctr">
              <a:lnSpc>
                <a:spcPts val="11486"/>
              </a:lnSpc>
            </a:pPr>
            <a:r>
              <a:rPr lang="en-US" sz="6756">
                <a:solidFill>
                  <a:srgbClr val="376A89"/>
                </a:solidFill>
                <a:latin typeface="Bobby Jones"/>
                <a:ea typeface="Bobby Jones"/>
                <a:cs typeface="Bobby Jones"/>
                <a:sym typeface="Bobby Jones"/>
              </a:rPr>
              <a:t>CUSTOMER FOOD’S REVIEWS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6829" y="4836805"/>
            <a:ext cx="5978909" cy="55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1"/>
              </a:lnSpc>
            </a:pPr>
            <a:r>
              <a:rPr lang="en-US" b="true" sz="3287">
                <a:solidFill>
                  <a:srgbClr val="00000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PRESENTATION BY GROUP 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65116" y="5764520"/>
            <a:ext cx="5033201" cy="339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40"/>
              </a:lnSpc>
            </a:pPr>
            <a:r>
              <a:rPr lang="en-US" b="true" sz="2589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Nguyen Thi Huong (Rebecca)   </a:t>
            </a:r>
          </a:p>
          <a:p>
            <a:pPr algn="just">
              <a:lnSpc>
                <a:spcPts val="5540"/>
              </a:lnSpc>
            </a:pPr>
            <a:r>
              <a:rPr lang="en-US" b="true" sz="2589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Hans Tjandra (Hans)                 </a:t>
            </a:r>
          </a:p>
          <a:p>
            <a:pPr algn="just">
              <a:lnSpc>
                <a:spcPts val="5540"/>
              </a:lnSpc>
            </a:pPr>
            <a:r>
              <a:rPr lang="en-US" b="true" sz="2589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Gregorius Gorat (Grego)         </a:t>
            </a:r>
          </a:p>
          <a:p>
            <a:pPr algn="just">
              <a:lnSpc>
                <a:spcPts val="5540"/>
              </a:lnSpc>
            </a:pPr>
            <a:r>
              <a:rPr lang="en-US" b="true" sz="2589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陳則銘 (Jimmy)                            </a:t>
            </a:r>
          </a:p>
          <a:p>
            <a:pPr algn="just">
              <a:lnSpc>
                <a:spcPts val="5540"/>
              </a:lnSpc>
            </a:pPr>
            <a:r>
              <a:rPr lang="en-US" b="true" sz="2589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王奕翔(Anderson)                    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60406" y="5764520"/>
            <a:ext cx="2100875" cy="339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40"/>
              </a:lnSpc>
            </a:pPr>
            <a:r>
              <a:rPr lang="en-US" b="true" sz="2589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M11201836</a:t>
            </a:r>
          </a:p>
          <a:p>
            <a:pPr algn="just">
              <a:lnSpc>
                <a:spcPts val="5540"/>
              </a:lnSpc>
            </a:pPr>
            <a:r>
              <a:rPr lang="en-US" b="true" sz="2589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M11415814</a:t>
            </a:r>
          </a:p>
          <a:p>
            <a:pPr algn="just">
              <a:lnSpc>
                <a:spcPts val="5540"/>
              </a:lnSpc>
            </a:pPr>
            <a:r>
              <a:rPr lang="en-US" b="true" sz="2589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M11415817</a:t>
            </a:r>
          </a:p>
          <a:p>
            <a:pPr algn="just">
              <a:lnSpc>
                <a:spcPts val="5540"/>
              </a:lnSpc>
            </a:pPr>
            <a:r>
              <a:rPr lang="en-US" b="true" sz="2589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M11407W01</a:t>
            </a:r>
          </a:p>
          <a:p>
            <a:pPr algn="just">
              <a:lnSpc>
                <a:spcPts val="5540"/>
              </a:lnSpc>
            </a:pPr>
            <a:r>
              <a:rPr lang="en-US" b="true" sz="2589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M1145102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512772"/>
            <a:ext cx="7826559" cy="1479931"/>
          </a:xfrm>
          <a:custGeom>
            <a:avLst/>
            <a:gdLst/>
            <a:ahLst/>
            <a:cxnLst/>
            <a:rect r="r" b="b" t="t" l="l"/>
            <a:pathLst>
              <a:path h="1479931" w="7826559">
                <a:moveTo>
                  <a:pt x="7826559" y="0"/>
                </a:moveTo>
                <a:lnTo>
                  <a:pt x="0" y="0"/>
                </a:lnTo>
                <a:lnTo>
                  <a:pt x="0" y="1479931"/>
                </a:lnTo>
                <a:lnTo>
                  <a:pt x="7826559" y="1479931"/>
                </a:lnTo>
                <a:lnTo>
                  <a:pt x="782655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8087">
            <a:off x="-1415966" y="-469856"/>
            <a:ext cx="4710902" cy="2355451"/>
          </a:xfrm>
          <a:custGeom>
            <a:avLst/>
            <a:gdLst/>
            <a:ahLst/>
            <a:cxnLst/>
            <a:rect r="r" b="b" t="t" l="l"/>
            <a:pathLst>
              <a:path h="2355451" w="4710902">
                <a:moveTo>
                  <a:pt x="0" y="0"/>
                </a:moveTo>
                <a:lnTo>
                  <a:pt x="4710902" y="0"/>
                </a:lnTo>
                <a:lnTo>
                  <a:pt x="4710902" y="2355451"/>
                </a:lnTo>
                <a:lnTo>
                  <a:pt x="0" y="23554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166027" y="0"/>
            <a:ext cx="3038036" cy="2677875"/>
            <a:chOff x="0" y="0"/>
            <a:chExt cx="4050714" cy="3570501"/>
          </a:xfrm>
        </p:grpSpPr>
        <p:grpSp>
          <p:nvGrpSpPr>
            <p:cNvPr name="Group 5" id="5"/>
            <p:cNvGrpSpPr/>
            <p:nvPr/>
          </p:nvGrpSpPr>
          <p:grpSpPr>
            <a:xfrm rot="-5400000">
              <a:off x="1880512" y="1400298"/>
              <a:ext cx="3570501" cy="769904"/>
              <a:chOff x="0" y="0"/>
              <a:chExt cx="1123461" cy="24225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23461" cy="242251"/>
              </a:xfrm>
              <a:custGeom>
                <a:avLst/>
                <a:gdLst/>
                <a:ahLst/>
                <a:cxnLst/>
                <a:rect r="r" b="b" t="t" l="l"/>
                <a:pathLst>
                  <a:path h="242251" w="1123461">
                    <a:moveTo>
                      <a:pt x="0" y="0"/>
                    </a:moveTo>
                    <a:lnTo>
                      <a:pt x="1123461" y="0"/>
                    </a:lnTo>
                    <a:lnTo>
                      <a:pt x="1123461" y="242251"/>
                    </a:lnTo>
                    <a:lnTo>
                      <a:pt x="0" y="242251"/>
                    </a:lnTo>
                    <a:close/>
                  </a:path>
                </a:pathLst>
              </a:custGeom>
              <a:solidFill>
                <a:srgbClr val="064663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23461" cy="280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-5400000">
              <a:off x="1867356" y="1481140"/>
              <a:ext cx="3521865" cy="656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7"/>
                </a:lnSpc>
              </a:pPr>
              <a:r>
                <a:rPr lang="en-US" sz="3334">
                  <a:solidFill>
                    <a:srgbClr val="FFFFFF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DISTRIBUTION</a:t>
              </a:r>
            </a:p>
          </p:txBody>
        </p:sp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0">
              <a:off x="-318965" y="-199631"/>
              <a:ext cx="3827585" cy="3827585"/>
            </a:xfrm>
            <a:prstGeom prst="rect">
              <a:avLst/>
            </a:prstGeom>
          </p:spPr>
        </p:pic>
      </p:grpSp>
      <p:sp>
        <p:nvSpPr>
          <p:cNvPr name="TextBox 10" id="10"/>
          <p:cNvSpPr txBox="true"/>
          <p:nvPr/>
        </p:nvSpPr>
        <p:spPr>
          <a:xfrm rot="0">
            <a:off x="2858123" y="161326"/>
            <a:ext cx="5740976" cy="86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1"/>
              </a:lnSpc>
            </a:pPr>
            <a:r>
              <a:rPr lang="en-US" sz="6047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CONTRIBUTION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38375" y="8464348"/>
            <a:ext cx="8259968" cy="1157090"/>
          </a:xfrm>
          <a:custGeom>
            <a:avLst/>
            <a:gdLst/>
            <a:ahLst/>
            <a:cxnLst/>
            <a:rect r="r" b="b" t="t" l="l"/>
            <a:pathLst>
              <a:path h="1157090" w="8259968">
                <a:moveTo>
                  <a:pt x="0" y="0"/>
                </a:moveTo>
                <a:lnTo>
                  <a:pt x="8259967" y="0"/>
                </a:lnTo>
                <a:lnTo>
                  <a:pt x="8259967" y="1157089"/>
                </a:lnTo>
                <a:lnTo>
                  <a:pt x="0" y="11570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8690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366564" y="1371676"/>
            <a:ext cx="12157499" cy="1306200"/>
            <a:chOff x="0" y="0"/>
            <a:chExt cx="3373913" cy="3624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73913" cy="362493"/>
            </a:xfrm>
            <a:custGeom>
              <a:avLst/>
              <a:gdLst/>
              <a:ahLst/>
              <a:cxnLst/>
              <a:rect r="r" b="b" t="t" l="l"/>
              <a:pathLst>
                <a:path h="362493" w="3373913">
                  <a:moveTo>
                    <a:pt x="11462" y="0"/>
                  </a:moveTo>
                  <a:lnTo>
                    <a:pt x="3362451" y="0"/>
                  </a:lnTo>
                  <a:cubicBezTo>
                    <a:pt x="3365491" y="0"/>
                    <a:pt x="3368406" y="1208"/>
                    <a:pt x="3370556" y="3357"/>
                  </a:cubicBezTo>
                  <a:cubicBezTo>
                    <a:pt x="3372706" y="5507"/>
                    <a:pt x="3373913" y="8422"/>
                    <a:pt x="3373913" y="11462"/>
                  </a:cubicBezTo>
                  <a:lnTo>
                    <a:pt x="3373913" y="351030"/>
                  </a:lnTo>
                  <a:cubicBezTo>
                    <a:pt x="3373913" y="357361"/>
                    <a:pt x="3368782" y="362493"/>
                    <a:pt x="3362451" y="362493"/>
                  </a:cubicBezTo>
                  <a:lnTo>
                    <a:pt x="11462" y="362493"/>
                  </a:lnTo>
                  <a:cubicBezTo>
                    <a:pt x="5132" y="362493"/>
                    <a:pt x="0" y="357361"/>
                    <a:pt x="0" y="351030"/>
                  </a:cubicBezTo>
                  <a:lnTo>
                    <a:pt x="0" y="11462"/>
                  </a:lnTo>
                  <a:cubicBezTo>
                    <a:pt x="0" y="5132"/>
                    <a:pt x="5132" y="0"/>
                    <a:pt x="1146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373913" cy="400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6244521" y="6528991"/>
            <a:ext cx="0" cy="759291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6244521" y="8159041"/>
            <a:ext cx="0" cy="759291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3913280" y="1435521"/>
            <a:ext cx="10403180" cy="1113729"/>
            <a:chOff x="0" y="0"/>
            <a:chExt cx="2887060" cy="3090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87060" cy="309079"/>
            </a:xfrm>
            <a:custGeom>
              <a:avLst/>
              <a:gdLst/>
              <a:ahLst/>
              <a:cxnLst/>
              <a:rect r="r" b="b" t="t" l="l"/>
              <a:pathLst>
                <a:path h="309079" w="2887060">
                  <a:moveTo>
                    <a:pt x="8186" y="0"/>
                  </a:moveTo>
                  <a:lnTo>
                    <a:pt x="2878874" y="0"/>
                  </a:lnTo>
                  <a:cubicBezTo>
                    <a:pt x="2881045" y="0"/>
                    <a:pt x="2883127" y="862"/>
                    <a:pt x="2884662" y="2398"/>
                  </a:cubicBezTo>
                  <a:cubicBezTo>
                    <a:pt x="2886197" y="3933"/>
                    <a:pt x="2887060" y="6015"/>
                    <a:pt x="2887060" y="8186"/>
                  </a:cubicBezTo>
                  <a:lnTo>
                    <a:pt x="2887060" y="300893"/>
                  </a:lnTo>
                  <a:cubicBezTo>
                    <a:pt x="2887060" y="305414"/>
                    <a:pt x="2883395" y="309079"/>
                    <a:pt x="2878874" y="309079"/>
                  </a:cubicBezTo>
                  <a:lnTo>
                    <a:pt x="8186" y="309079"/>
                  </a:lnTo>
                  <a:cubicBezTo>
                    <a:pt x="3665" y="309079"/>
                    <a:pt x="0" y="305414"/>
                    <a:pt x="0" y="300893"/>
                  </a:cubicBezTo>
                  <a:lnTo>
                    <a:pt x="0" y="8186"/>
                  </a:lnTo>
                  <a:cubicBezTo>
                    <a:pt x="0" y="3665"/>
                    <a:pt x="3665" y="0"/>
                    <a:pt x="81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887060" cy="347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 exploration, cleaning, and preprocessing for the Amazon review dataset. Led food safety and health hazard detection design and implementation.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66468" y="1719938"/>
            <a:ext cx="135377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Hans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684579" y="2968351"/>
            <a:ext cx="12169844" cy="1294932"/>
            <a:chOff x="0" y="0"/>
            <a:chExt cx="16226459" cy="172657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6226459" cy="1726577"/>
              <a:chOff x="0" y="0"/>
              <a:chExt cx="3377339" cy="35936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377339" cy="359366"/>
              </a:xfrm>
              <a:custGeom>
                <a:avLst/>
                <a:gdLst/>
                <a:ahLst/>
                <a:cxnLst/>
                <a:rect r="r" b="b" t="t" l="l"/>
                <a:pathLst>
                  <a:path h="359366" w="3377339">
                    <a:moveTo>
                      <a:pt x="11451" y="0"/>
                    </a:moveTo>
                    <a:lnTo>
                      <a:pt x="3365888" y="0"/>
                    </a:lnTo>
                    <a:cubicBezTo>
                      <a:pt x="3372212" y="0"/>
                      <a:pt x="3377339" y="5127"/>
                      <a:pt x="3377339" y="11451"/>
                    </a:cubicBezTo>
                    <a:lnTo>
                      <a:pt x="3377339" y="347915"/>
                    </a:lnTo>
                    <a:cubicBezTo>
                      <a:pt x="3377339" y="354239"/>
                      <a:pt x="3372212" y="359366"/>
                      <a:pt x="3365888" y="359366"/>
                    </a:cubicBezTo>
                    <a:lnTo>
                      <a:pt x="11451" y="359366"/>
                    </a:lnTo>
                    <a:cubicBezTo>
                      <a:pt x="5127" y="359366"/>
                      <a:pt x="0" y="354239"/>
                      <a:pt x="0" y="347915"/>
                    </a:cubicBezTo>
                    <a:lnTo>
                      <a:pt x="0" y="11451"/>
                    </a:lnTo>
                    <a:cubicBezTo>
                      <a:pt x="0" y="5127"/>
                      <a:pt x="5127" y="0"/>
                      <a:pt x="11451" y="0"/>
                    </a:cubicBezTo>
                    <a:close/>
                  </a:path>
                </a:pathLst>
              </a:custGeom>
              <a:solidFill>
                <a:srgbClr val="3D6298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3377339" cy="3974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511978" y="98926"/>
              <a:ext cx="13542313" cy="1486786"/>
              <a:chOff x="0" y="0"/>
              <a:chExt cx="2818667" cy="30945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818667" cy="309456"/>
              </a:xfrm>
              <a:custGeom>
                <a:avLst/>
                <a:gdLst/>
                <a:ahLst/>
                <a:cxnLst/>
                <a:rect r="r" b="b" t="t" l="l"/>
                <a:pathLst>
                  <a:path h="309456" w="2818667">
                    <a:moveTo>
                      <a:pt x="8385" y="0"/>
                    </a:moveTo>
                    <a:lnTo>
                      <a:pt x="2810282" y="0"/>
                    </a:lnTo>
                    <a:cubicBezTo>
                      <a:pt x="2812506" y="0"/>
                      <a:pt x="2814639" y="883"/>
                      <a:pt x="2816211" y="2456"/>
                    </a:cubicBezTo>
                    <a:cubicBezTo>
                      <a:pt x="2817784" y="4028"/>
                      <a:pt x="2818667" y="6161"/>
                      <a:pt x="2818667" y="8385"/>
                    </a:cubicBezTo>
                    <a:lnTo>
                      <a:pt x="2818667" y="301072"/>
                    </a:lnTo>
                    <a:cubicBezTo>
                      <a:pt x="2818667" y="303295"/>
                      <a:pt x="2817784" y="305428"/>
                      <a:pt x="2816211" y="307001"/>
                    </a:cubicBezTo>
                    <a:cubicBezTo>
                      <a:pt x="2814639" y="308573"/>
                      <a:pt x="2812506" y="309456"/>
                      <a:pt x="2810282" y="309456"/>
                    </a:cubicBezTo>
                    <a:lnTo>
                      <a:pt x="8385" y="309456"/>
                    </a:lnTo>
                    <a:cubicBezTo>
                      <a:pt x="6161" y="309456"/>
                      <a:pt x="4028" y="308573"/>
                      <a:pt x="2456" y="307001"/>
                    </a:cubicBezTo>
                    <a:cubicBezTo>
                      <a:pt x="883" y="305428"/>
                      <a:pt x="0" y="303295"/>
                      <a:pt x="0" y="301072"/>
                    </a:cubicBezTo>
                    <a:lnTo>
                      <a:pt x="0" y="8385"/>
                    </a:lnTo>
                    <a:cubicBezTo>
                      <a:pt x="0" y="6161"/>
                      <a:pt x="883" y="4028"/>
                      <a:pt x="2456" y="2456"/>
                    </a:cubicBezTo>
                    <a:cubicBezTo>
                      <a:pt x="4028" y="883"/>
                      <a:pt x="6161" y="0"/>
                      <a:pt x="838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818667" cy="3475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  <a:spcBef>
                    <a:spcPct val="0"/>
                  </a:spcBef>
                </a:pPr>
                <a:r>
                  <a:rPr lang="en-US" b="true" sz="1999">
                    <a:solidFill>
                      <a:srgbClr val="000000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Data exploration, cleaning, and preprocessing for the Amazon review dataset. Product Overview Analysis,  final reporting/presentation flow.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91664" y="513456"/>
              <a:ext cx="255348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Rebecca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982759" y="4587647"/>
            <a:ext cx="12264221" cy="1417003"/>
            <a:chOff x="0" y="0"/>
            <a:chExt cx="16352295" cy="1889337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6352295" cy="1889337"/>
              <a:chOff x="0" y="0"/>
              <a:chExt cx="3403530" cy="39324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403531" cy="393242"/>
              </a:xfrm>
              <a:custGeom>
                <a:avLst/>
                <a:gdLst/>
                <a:ahLst/>
                <a:cxnLst/>
                <a:rect r="r" b="b" t="t" l="l"/>
                <a:pathLst>
                  <a:path h="393242" w="3403531">
                    <a:moveTo>
                      <a:pt x="11363" y="0"/>
                    </a:moveTo>
                    <a:lnTo>
                      <a:pt x="3392168" y="0"/>
                    </a:lnTo>
                    <a:cubicBezTo>
                      <a:pt x="3398443" y="0"/>
                      <a:pt x="3403531" y="5087"/>
                      <a:pt x="3403531" y="11363"/>
                    </a:cubicBezTo>
                    <a:lnTo>
                      <a:pt x="3403531" y="381880"/>
                    </a:lnTo>
                    <a:cubicBezTo>
                      <a:pt x="3403531" y="384893"/>
                      <a:pt x="3402333" y="387783"/>
                      <a:pt x="3400203" y="389914"/>
                    </a:cubicBezTo>
                    <a:cubicBezTo>
                      <a:pt x="3398072" y="392045"/>
                      <a:pt x="3395182" y="393242"/>
                      <a:pt x="3392168" y="393242"/>
                    </a:cubicBezTo>
                    <a:lnTo>
                      <a:pt x="11363" y="393242"/>
                    </a:lnTo>
                    <a:cubicBezTo>
                      <a:pt x="8349" y="393242"/>
                      <a:pt x="5459" y="392045"/>
                      <a:pt x="3328" y="389914"/>
                    </a:cubicBezTo>
                    <a:cubicBezTo>
                      <a:pt x="1197" y="387783"/>
                      <a:pt x="0" y="384893"/>
                      <a:pt x="0" y="381880"/>
                    </a:cubicBezTo>
                    <a:lnTo>
                      <a:pt x="0" y="11363"/>
                    </a:lnTo>
                    <a:cubicBezTo>
                      <a:pt x="0" y="5087"/>
                      <a:pt x="5087" y="0"/>
                      <a:pt x="11363" y="0"/>
                    </a:cubicBezTo>
                    <a:close/>
                  </a:path>
                </a:pathLst>
              </a:custGeom>
              <a:solidFill>
                <a:srgbClr val="BEC8DA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3403530" cy="4313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495747" y="80069"/>
              <a:ext cx="13714252" cy="1729199"/>
              <a:chOff x="0" y="0"/>
              <a:chExt cx="2854454" cy="359912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854454" cy="359912"/>
              </a:xfrm>
              <a:custGeom>
                <a:avLst/>
                <a:gdLst/>
                <a:ahLst/>
                <a:cxnLst/>
                <a:rect r="r" b="b" t="t" l="l"/>
                <a:pathLst>
                  <a:path h="359912" w="2854454">
                    <a:moveTo>
                      <a:pt x="8280" y="0"/>
                    </a:moveTo>
                    <a:lnTo>
                      <a:pt x="2846175" y="0"/>
                    </a:lnTo>
                    <a:cubicBezTo>
                      <a:pt x="2850747" y="0"/>
                      <a:pt x="2854454" y="3707"/>
                      <a:pt x="2854454" y="8280"/>
                    </a:cubicBezTo>
                    <a:lnTo>
                      <a:pt x="2854454" y="351632"/>
                    </a:lnTo>
                    <a:cubicBezTo>
                      <a:pt x="2854454" y="353828"/>
                      <a:pt x="2853582" y="355934"/>
                      <a:pt x="2852029" y="357487"/>
                    </a:cubicBezTo>
                    <a:cubicBezTo>
                      <a:pt x="2850476" y="359039"/>
                      <a:pt x="2848370" y="359912"/>
                      <a:pt x="2846175" y="359912"/>
                    </a:cubicBezTo>
                    <a:lnTo>
                      <a:pt x="8280" y="359912"/>
                    </a:lnTo>
                    <a:cubicBezTo>
                      <a:pt x="6084" y="359912"/>
                      <a:pt x="3978" y="359039"/>
                      <a:pt x="2425" y="357487"/>
                    </a:cubicBezTo>
                    <a:cubicBezTo>
                      <a:pt x="872" y="355934"/>
                      <a:pt x="0" y="353828"/>
                      <a:pt x="0" y="351632"/>
                    </a:cubicBezTo>
                    <a:lnTo>
                      <a:pt x="0" y="8280"/>
                    </a:lnTo>
                    <a:cubicBezTo>
                      <a:pt x="0" y="6084"/>
                      <a:pt x="872" y="3978"/>
                      <a:pt x="2425" y="2425"/>
                    </a:cubicBezTo>
                    <a:cubicBezTo>
                      <a:pt x="3978" y="872"/>
                      <a:pt x="6084" y="0"/>
                      <a:pt x="828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2854454" cy="3980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  <a:spcBef>
                    <a:spcPct val="0"/>
                  </a:spcBef>
                </a:pPr>
                <a:r>
                  <a:rPr lang="en-US" b="true" sz="1999">
                    <a:solidFill>
                      <a:srgbClr val="000000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Data exploration, cleaning, and preprocessing for the Amazon review dataset. Led NLP feature engineering, including word count, helpfulness, and weighting logic. </a:t>
                </a: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399872" y="573194"/>
              <a:ext cx="1805027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Grego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522256" y="6175104"/>
            <a:ext cx="12251876" cy="1388000"/>
            <a:chOff x="0" y="0"/>
            <a:chExt cx="16335835" cy="1850667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6335835" cy="1850667"/>
              <a:chOff x="0" y="0"/>
              <a:chExt cx="3400104" cy="385194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400104" cy="385194"/>
              </a:xfrm>
              <a:custGeom>
                <a:avLst/>
                <a:gdLst/>
                <a:ahLst/>
                <a:cxnLst/>
                <a:rect r="r" b="b" t="t" l="l"/>
                <a:pathLst>
                  <a:path h="385194" w="3400104">
                    <a:moveTo>
                      <a:pt x="11374" y="0"/>
                    </a:moveTo>
                    <a:lnTo>
                      <a:pt x="3388730" y="0"/>
                    </a:lnTo>
                    <a:cubicBezTo>
                      <a:pt x="3391747" y="0"/>
                      <a:pt x="3394640" y="1198"/>
                      <a:pt x="3396773" y="3331"/>
                    </a:cubicBezTo>
                    <a:cubicBezTo>
                      <a:pt x="3398906" y="5464"/>
                      <a:pt x="3400104" y="8358"/>
                      <a:pt x="3400104" y="11374"/>
                    </a:cubicBezTo>
                    <a:lnTo>
                      <a:pt x="3400104" y="373820"/>
                    </a:lnTo>
                    <a:cubicBezTo>
                      <a:pt x="3400104" y="376836"/>
                      <a:pt x="3398906" y="379729"/>
                      <a:pt x="3396773" y="381862"/>
                    </a:cubicBezTo>
                    <a:cubicBezTo>
                      <a:pt x="3394640" y="383995"/>
                      <a:pt x="3391747" y="385194"/>
                      <a:pt x="3388730" y="385194"/>
                    </a:cubicBezTo>
                    <a:lnTo>
                      <a:pt x="11374" y="385194"/>
                    </a:lnTo>
                    <a:cubicBezTo>
                      <a:pt x="8358" y="385194"/>
                      <a:pt x="5464" y="383995"/>
                      <a:pt x="3331" y="381862"/>
                    </a:cubicBezTo>
                    <a:cubicBezTo>
                      <a:pt x="1198" y="379729"/>
                      <a:pt x="0" y="376836"/>
                      <a:pt x="0" y="373820"/>
                    </a:cubicBezTo>
                    <a:lnTo>
                      <a:pt x="0" y="11374"/>
                    </a:lnTo>
                    <a:cubicBezTo>
                      <a:pt x="0" y="8358"/>
                      <a:pt x="1198" y="5464"/>
                      <a:pt x="3331" y="3331"/>
                    </a:cubicBezTo>
                    <a:cubicBezTo>
                      <a:pt x="5464" y="1198"/>
                      <a:pt x="8358" y="0"/>
                      <a:pt x="11374" y="0"/>
                    </a:cubicBezTo>
                    <a:close/>
                  </a:path>
                </a:pathLst>
              </a:custGeom>
              <a:solidFill>
                <a:srgbClr val="F68D55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3400104" cy="4232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2752428" y="96638"/>
              <a:ext cx="13457571" cy="1613583"/>
              <a:chOff x="0" y="0"/>
              <a:chExt cx="2801029" cy="335848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801029" cy="335848"/>
              </a:xfrm>
              <a:custGeom>
                <a:avLst/>
                <a:gdLst/>
                <a:ahLst/>
                <a:cxnLst/>
                <a:rect r="r" b="b" t="t" l="l"/>
                <a:pathLst>
                  <a:path h="335848" w="2801029">
                    <a:moveTo>
                      <a:pt x="8437" y="0"/>
                    </a:moveTo>
                    <a:lnTo>
                      <a:pt x="2792592" y="0"/>
                    </a:lnTo>
                    <a:cubicBezTo>
                      <a:pt x="2794829" y="0"/>
                      <a:pt x="2796975" y="889"/>
                      <a:pt x="2798558" y="2471"/>
                    </a:cubicBezTo>
                    <a:cubicBezTo>
                      <a:pt x="2800140" y="4054"/>
                      <a:pt x="2801029" y="6200"/>
                      <a:pt x="2801029" y="8437"/>
                    </a:cubicBezTo>
                    <a:lnTo>
                      <a:pt x="2801029" y="327410"/>
                    </a:lnTo>
                    <a:cubicBezTo>
                      <a:pt x="2801029" y="332070"/>
                      <a:pt x="2797251" y="335848"/>
                      <a:pt x="2792592" y="335848"/>
                    </a:cubicBezTo>
                    <a:lnTo>
                      <a:pt x="8437" y="335848"/>
                    </a:lnTo>
                    <a:cubicBezTo>
                      <a:pt x="6200" y="335848"/>
                      <a:pt x="4054" y="334959"/>
                      <a:pt x="2471" y="333376"/>
                    </a:cubicBezTo>
                    <a:cubicBezTo>
                      <a:pt x="889" y="331794"/>
                      <a:pt x="0" y="329648"/>
                      <a:pt x="0" y="327410"/>
                    </a:cubicBezTo>
                    <a:lnTo>
                      <a:pt x="0" y="8437"/>
                    </a:lnTo>
                    <a:cubicBezTo>
                      <a:pt x="0" y="3778"/>
                      <a:pt x="3778" y="0"/>
                      <a:pt x="843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2801029" cy="373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  <a:spcBef>
                    <a:spcPct val="0"/>
                  </a:spcBef>
                </a:pPr>
                <a:r>
                  <a:rPr lang="en-US" b="true" sz="1999">
                    <a:solidFill>
                      <a:srgbClr val="000000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Data exploration, cleaning, and preprocessing for the Amazon review dataset. Led food safety and health hazard detection technical and labeling. </a:t>
                </a: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146504" y="490940"/>
              <a:ext cx="2431031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Anderson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238375" y="7804614"/>
            <a:ext cx="12251876" cy="1466647"/>
            <a:chOff x="0" y="0"/>
            <a:chExt cx="16335835" cy="195553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16335835" cy="1955530"/>
              <a:chOff x="0" y="0"/>
              <a:chExt cx="3400104" cy="40702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3400104" cy="407020"/>
              </a:xfrm>
              <a:custGeom>
                <a:avLst/>
                <a:gdLst/>
                <a:ahLst/>
                <a:cxnLst/>
                <a:rect r="r" b="b" t="t" l="l"/>
                <a:pathLst>
                  <a:path h="407020" w="3400104">
                    <a:moveTo>
                      <a:pt x="11374" y="0"/>
                    </a:moveTo>
                    <a:lnTo>
                      <a:pt x="3388730" y="0"/>
                    </a:lnTo>
                    <a:cubicBezTo>
                      <a:pt x="3391747" y="0"/>
                      <a:pt x="3394640" y="1198"/>
                      <a:pt x="3396773" y="3331"/>
                    </a:cubicBezTo>
                    <a:cubicBezTo>
                      <a:pt x="3398906" y="5464"/>
                      <a:pt x="3400104" y="8358"/>
                      <a:pt x="3400104" y="11374"/>
                    </a:cubicBezTo>
                    <a:lnTo>
                      <a:pt x="3400104" y="395646"/>
                    </a:lnTo>
                    <a:cubicBezTo>
                      <a:pt x="3400104" y="398662"/>
                      <a:pt x="3398906" y="401555"/>
                      <a:pt x="3396773" y="403688"/>
                    </a:cubicBezTo>
                    <a:cubicBezTo>
                      <a:pt x="3394640" y="405821"/>
                      <a:pt x="3391747" y="407020"/>
                      <a:pt x="3388730" y="407020"/>
                    </a:cubicBezTo>
                    <a:lnTo>
                      <a:pt x="11374" y="407020"/>
                    </a:lnTo>
                    <a:cubicBezTo>
                      <a:pt x="8358" y="407020"/>
                      <a:pt x="5464" y="405821"/>
                      <a:pt x="3331" y="403688"/>
                    </a:cubicBezTo>
                    <a:cubicBezTo>
                      <a:pt x="1198" y="401555"/>
                      <a:pt x="0" y="398662"/>
                      <a:pt x="0" y="395646"/>
                    </a:cubicBezTo>
                    <a:lnTo>
                      <a:pt x="0" y="11374"/>
                    </a:lnTo>
                    <a:cubicBezTo>
                      <a:pt x="0" y="8358"/>
                      <a:pt x="1198" y="5464"/>
                      <a:pt x="3331" y="3331"/>
                    </a:cubicBezTo>
                    <a:cubicBezTo>
                      <a:pt x="5464" y="1198"/>
                      <a:pt x="8358" y="0"/>
                      <a:pt x="11374" y="0"/>
                    </a:cubicBezTo>
                    <a:close/>
                  </a:path>
                </a:pathLst>
              </a:custGeom>
              <a:solidFill>
                <a:srgbClr val="E8DED6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3400104" cy="4451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2204899" y="152028"/>
              <a:ext cx="14005100" cy="1669872"/>
              <a:chOff x="0" y="0"/>
              <a:chExt cx="2914990" cy="347564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914990" cy="347564"/>
              </a:xfrm>
              <a:custGeom>
                <a:avLst/>
                <a:gdLst/>
                <a:ahLst/>
                <a:cxnLst/>
                <a:rect r="r" b="b" t="t" l="l"/>
                <a:pathLst>
                  <a:path h="347564" w="2914990">
                    <a:moveTo>
                      <a:pt x="8108" y="0"/>
                    </a:moveTo>
                    <a:lnTo>
                      <a:pt x="2906883" y="0"/>
                    </a:lnTo>
                    <a:cubicBezTo>
                      <a:pt x="2909033" y="0"/>
                      <a:pt x="2911095" y="854"/>
                      <a:pt x="2912616" y="2375"/>
                    </a:cubicBezTo>
                    <a:cubicBezTo>
                      <a:pt x="2914136" y="3895"/>
                      <a:pt x="2914990" y="5957"/>
                      <a:pt x="2914990" y="8108"/>
                    </a:cubicBezTo>
                    <a:lnTo>
                      <a:pt x="2914990" y="339456"/>
                    </a:lnTo>
                    <a:cubicBezTo>
                      <a:pt x="2914990" y="341606"/>
                      <a:pt x="2914136" y="343668"/>
                      <a:pt x="2912616" y="345189"/>
                    </a:cubicBezTo>
                    <a:cubicBezTo>
                      <a:pt x="2911095" y="346709"/>
                      <a:pt x="2909033" y="347564"/>
                      <a:pt x="2906883" y="347564"/>
                    </a:cubicBezTo>
                    <a:lnTo>
                      <a:pt x="8108" y="347564"/>
                    </a:lnTo>
                    <a:cubicBezTo>
                      <a:pt x="5957" y="347564"/>
                      <a:pt x="3895" y="346709"/>
                      <a:pt x="2375" y="345189"/>
                    </a:cubicBezTo>
                    <a:cubicBezTo>
                      <a:pt x="854" y="343668"/>
                      <a:pt x="0" y="341606"/>
                      <a:pt x="0" y="339456"/>
                    </a:cubicBezTo>
                    <a:lnTo>
                      <a:pt x="0" y="8108"/>
                    </a:lnTo>
                    <a:cubicBezTo>
                      <a:pt x="0" y="5957"/>
                      <a:pt x="854" y="3895"/>
                      <a:pt x="2375" y="2375"/>
                    </a:cubicBezTo>
                    <a:cubicBezTo>
                      <a:pt x="3895" y="854"/>
                      <a:pt x="5957" y="0"/>
                      <a:pt x="810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2914990" cy="385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  <a:spcBef>
                    <a:spcPct val="0"/>
                  </a:spcBef>
                </a:pPr>
                <a:r>
                  <a:rPr lang="en-US" b="true" sz="1999">
                    <a:solidFill>
                      <a:srgbClr val="000000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Data exploration, cleaning, and preprocessing for the Amazon review dataset. Led NLP feature engineering, including word count, helpfulness, and weighting logic. </a:t>
                </a: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99872" y="676064"/>
              <a:ext cx="1805027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Jimmy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5" r="0" b="-176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8610" y="2598370"/>
            <a:ext cx="5855779" cy="5855779"/>
          </a:xfrm>
          <a:custGeom>
            <a:avLst/>
            <a:gdLst/>
            <a:ahLst/>
            <a:cxnLst/>
            <a:rect r="r" b="b" t="t" l="l"/>
            <a:pathLst>
              <a:path h="5855779" w="5855779">
                <a:moveTo>
                  <a:pt x="0" y="0"/>
                </a:moveTo>
                <a:lnTo>
                  <a:pt x="5855779" y="0"/>
                </a:lnTo>
                <a:lnTo>
                  <a:pt x="5855779" y="5855779"/>
                </a:lnTo>
                <a:lnTo>
                  <a:pt x="0" y="5855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2658292" y="771870"/>
            <a:ext cx="12798869" cy="8937280"/>
            <a:chOff x="0" y="0"/>
            <a:chExt cx="660400" cy="4611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461149"/>
            </a:xfrm>
            <a:custGeom>
              <a:avLst/>
              <a:gdLst/>
              <a:ahLst/>
              <a:cxnLst/>
              <a:rect r="r" b="b" t="t" l="l"/>
              <a:pathLst>
                <a:path h="461149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66675" cap="sq">
              <a:solidFill>
                <a:srgbClr val="BEC8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8610" y="2312620"/>
            <a:ext cx="5855779" cy="585577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584389" y="11889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584389" y="1099966"/>
            <a:ext cx="1216244" cy="12162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197129" y="6351882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197129" y="6262859"/>
            <a:ext cx="1216244" cy="12162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197129" y="2810927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197129" y="2721904"/>
            <a:ext cx="1216244" cy="12162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584389" y="79707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584389" y="7881766"/>
            <a:ext cx="1216244" cy="121624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601661" y="45798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7601661" y="4490866"/>
            <a:ext cx="1216244" cy="121624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976824" y="1448022"/>
            <a:ext cx="431374" cy="517391"/>
          </a:xfrm>
          <a:custGeom>
            <a:avLst/>
            <a:gdLst/>
            <a:ahLst/>
            <a:cxnLst/>
            <a:rect r="r" b="b" t="t" l="l"/>
            <a:pathLst>
              <a:path h="517391" w="431374">
                <a:moveTo>
                  <a:pt x="0" y="0"/>
                </a:moveTo>
                <a:lnTo>
                  <a:pt x="431374" y="0"/>
                </a:lnTo>
                <a:lnTo>
                  <a:pt x="431374" y="517391"/>
                </a:lnTo>
                <a:lnTo>
                  <a:pt x="0" y="517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939259" y="8232019"/>
            <a:ext cx="515739" cy="515739"/>
          </a:xfrm>
          <a:custGeom>
            <a:avLst/>
            <a:gdLst/>
            <a:ahLst/>
            <a:cxnLst/>
            <a:rect r="r" b="b" t="t" l="l"/>
            <a:pathLst>
              <a:path h="515739" w="515739">
                <a:moveTo>
                  <a:pt x="0" y="0"/>
                </a:moveTo>
                <a:lnTo>
                  <a:pt x="515740" y="0"/>
                </a:lnTo>
                <a:lnTo>
                  <a:pt x="515740" y="515739"/>
                </a:lnTo>
                <a:lnTo>
                  <a:pt x="0" y="5157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505196" y="6570925"/>
            <a:ext cx="600110" cy="600110"/>
          </a:xfrm>
          <a:custGeom>
            <a:avLst/>
            <a:gdLst/>
            <a:ahLst/>
            <a:cxnLst/>
            <a:rect r="r" b="b" t="t" l="l"/>
            <a:pathLst>
              <a:path h="600110" w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505196" y="3074482"/>
            <a:ext cx="600110" cy="600110"/>
          </a:xfrm>
          <a:custGeom>
            <a:avLst/>
            <a:gdLst/>
            <a:ahLst/>
            <a:cxnLst/>
            <a:rect r="r" b="b" t="t" l="l"/>
            <a:pathLst>
              <a:path h="600110" w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949354" y="4825984"/>
            <a:ext cx="520857" cy="543267"/>
          </a:xfrm>
          <a:custGeom>
            <a:avLst/>
            <a:gdLst/>
            <a:ahLst/>
            <a:cxnLst/>
            <a:rect r="r" b="b" t="t" l="l"/>
            <a:pathLst>
              <a:path h="543267" w="520857">
                <a:moveTo>
                  <a:pt x="0" y="0"/>
                </a:moveTo>
                <a:lnTo>
                  <a:pt x="520858" y="0"/>
                </a:lnTo>
                <a:lnTo>
                  <a:pt x="520858" y="543267"/>
                </a:lnTo>
                <a:lnTo>
                  <a:pt x="0" y="543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151390" y="4270014"/>
            <a:ext cx="4742818" cy="170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51"/>
              </a:lnSpc>
              <a:spcBef>
                <a:spcPct val="0"/>
              </a:spcBef>
            </a:pPr>
            <a:r>
              <a:rPr lang="en-US" sz="6047" strike="noStrike" u="none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CONTENT OF PRESENTATION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65489" y="13669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65489" y="81487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13373" y="2988910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413373" y="6547181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17905" y="47578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60290" y="1416015"/>
            <a:ext cx="71678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76A89"/>
                </a:solidFill>
                <a:latin typeface="TT Fors Bold"/>
                <a:ea typeface="TT Fors Bold"/>
                <a:cs typeface="TT Fors Bold"/>
                <a:sym typeface="TT Fors Bold"/>
              </a:rPr>
              <a:t>Problem Motivation &amp; Objective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27163" y="8245845"/>
            <a:ext cx="78899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Conclusion + Limitations + Future Work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27153" y="3017332"/>
            <a:ext cx="52488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Data &amp; Processing Setup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08174" y="6662453"/>
            <a:ext cx="52488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Results &amp; Decision Value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689685" y="4902262"/>
            <a:ext cx="770842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Technical Design and Methodology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327492">
            <a:off x="-2355451" y="-566942"/>
            <a:ext cx="4710902" cy="2355451"/>
          </a:xfrm>
          <a:custGeom>
            <a:avLst/>
            <a:gdLst/>
            <a:ahLst/>
            <a:cxnLst/>
            <a:rect r="r" b="b" t="t" l="l"/>
            <a:pathLst>
              <a:path h="2355451" w="4710902">
                <a:moveTo>
                  <a:pt x="0" y="0"/>
                </a:moveTo>
                <a:lnTo>
                  <a:pt x="4710902" y="0"/>
                </a:lnTo>
                <a:lnTo>
                  <a:pt x="4710902" y="2355451"/>
                </a:lnTo>
                <a:lnTo>
                  <a:pt x="0" y="2355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35623" y="9139713"/>
            <a:ext cx="4715092" cy="4874625"/>
          </a:xfrm>
          <a:custGeom>
            <a:avLst/>
            <a:gdLst/>
            <a:ahLst/>
            <a:cxnLst/>
            <a:rect r="r" b="b" t="t" l="l"/>
            <a:pathLst>
              <a:path h="4874625" w="4715092">
                <a:moveTo>
                  <a:pt x="0" y="0"/>
                </a:moveTo>
                <a:lnTo>
                  <a:pt x="4715093" y="0"/>
                </a:lnTo>
                <a:lnTo>
                  <a:pt x="4715093" y="4874625"/>
                </a:lnTo>
                <a:lnTo>
                  <a:pt x="0" y="4874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78461" y="-80835"/>
            <a:ext cx="7315200" cy="1383238"/>
          </a:xfrm>
          <a:custGeom>
            <a:avLst/>
            <a:gdLst/>
            <a:ahLst/>
            <a:cxnLst/>
            <a:rect r="r" b="b" t="t" l="l"/>
            <a:pathLst>
              <a:path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7"/>
                </a:lnTo>
                <a:lnTo>
                  <a:pt x="0" y="13832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81023" y="8684276"/>
            <a:ext cx="14525953" cy="910873"/>
            <a:chOff x="0" y="0"/>
            <a:chExt cx="19367937" cy="121449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9367937" cy="1214498"/>
              <a:chOff x="0" y="0"/>
              <a:chExt cx="3825765" cy="2399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825765" cy="239901"/>
              </a:xfrm>
              <a:custGeom>
                <a:avLst/>
                <a:gdLst/>
                <a:ahLst/>
                <a:cxnLst/>
                <a:rect r="r" b="b" t="t" l="l"/>
                <a:pathLst>
                  <a:path h="239901" w="3825765">
                    <a:moveTo>
                      <a:pt x="46901" y="0"/>
                    </a:moveTo>
                    <a:lnTo>
                      <a:pt x="3778864" y="0"/>
                    </a:lnTo>
                    <a:cubicBezTo>
                      <a:pt x="3791303" y="0"/>
                      <a:pt x="3803233" y="4941"/>
                      <a:pt x="3812028" y="13737"/>
                    </a:cubicBezTo>
                    <a:cubicBezTo>
                      <a:pt x="3820824" y="22533"/>
                      <a:pt x="3825765" y="34462"/>
                      <a:pt x="3825765" y="46901"/>
                    </a:cubicBezTo>
                    <a:lnTo>
                      <a:pt x="3825765" y="192999"/>
                    </a:lnTo>
                    <a:cubicBezTo>
                      <a:pt x="3825765" y="205438"/>
                      <a:pt x="3820824" y="217368"/>
                      <a:pt x="3812028" y="226164"/>
                    </a:cubicBezTo>
                    <a:cubicBezTo>
                      <a:pt x="3803233" y="234959"/>
                      <a:pt x="3791303" y="239901"/>
                      <a:pt x="3778864" y="239901"/>
                    </a:cubicBezTo>
                    <a:lnTo>
                      <a:pt x="46901" y="239901"/>
                    </a:lnTo>
                    <a:cubicBezTo>
                      <a:pt x="20999" y="239901"/>
                      <a:pt x="0" y="218902"/>
                      <a:pt x="0" y="192999"/>
                    </a:cubicBezTo>
                    <a:lnTo>
                      <a:pt x="0" y="46901"/>
                    </a:lnTo>
                    <a:cubicBezTo>
                      <a:pt x="0" y="34462"/>
                      <a:pt x="4941" y="22533"/>
                      <a:pt x="13737" y="13737"/>
                    </a:cubicBezTo>
                    <a:cubicBezTo>
                      <a:pt x="22533" y="4941"/>
                      <a:pt x="34462" y="0"/>
                      <a:pt x="46901" y="0"/>
                    </a:cubicBezTo>
                    <a:close/>
                  </a:path>
                </a:pathLst>
              </a:custGeom>
              <a:solidFill>
                <a:srgbClr val="1C61A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825765" cy="2780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911986" y="204998"/>
              <a:ext cx="17543966" cy="823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4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Customer reviews should not only measure satisfaction - they should </a:t>
              </a:r>
              <a:r>
                <a:rPr lang="en-US" b="true" sz="2200">
                  <a:solidFill>
                    <a:srgbClr val="E4792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guide growth</a:t>
              </a:r>
              <a:r>
                <a:rPr lang="en-US" b="true" sz="22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and </a:t>
              </a:r>
              <a:r>
                <a:rPr lang="en-US" b="true" sz="2200">
                  <a:solidFill>
                    <a:srgbClr val="E4792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protect customers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335168" y="2465549"/>
            <a:ext cx="13617663" cy="5733835"/>
          </a:xfrm>
          <a:custGeom>
            <a:avLst/>
            <a:gdLst/>
            <a:ahLst/>
            <a:cxnLst/>
            <a:rect r="r" b="b" t="t" l="l"/>
            <a:pathLst>
              <a:path h="5733835" w="13617663">
                <a:moveTo>
                  <a:pt x="0" y="0"/>
                </a:moveTo>
                <a:lnTo>
                  <a:pt x="13617664" y="0"/>
                </a:lnTo>
                <a:lnTo>
                  <a:pt x="13617664" y="5733835"/>
                </a:lnTo>
                <a:lnTo>
                  <a:pt x="0" y="5733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77" t="-30656" r="-3242" b="-3630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27140" y="521352"/>
            <a:ext cx="1047426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Problem and Objective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6808" y="1483204"/>
            <a:ext cx="1549438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E-commerce platforms receive massive volumes of customer reviews every day, but most of this data is only used for simple performance tracking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5" r="0" b="-176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8610" y="2598370"/>
            <a:ext cx="5855779" cy="5855779"/>
          </a:xfrm>
          <a:custGeom>
            <a:avLst/>
            <a:gdLst/>
            <a:ahLst/>
            <a:cxnLst/>
            <a:rect r="r" b="b" t="t" l="l"/>
            <a:pathLst>
              <a:path h="5855779" w="5855779">
                <a:moveTo>
                  <a:pt x="0" y="0"/>
                </a:moveTo>
                <a:lnTo>
                  <a:pt x="5855779" y="0"/>
                </a:lnTo>
                <a:lnTo>
                  <a:pt x="5855779" y="5855779"/>
                </a:lnTo>
                <a:lnTo>
                  <a:pt x="0" y="5855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2658292" y="771870"/>
            <a:ext cx="12798869" cy="8937280"/>
            <a:chOff x="0" y="0"/>
            <a:chExt cx="660400" cy="4611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461149"/>
            </a:xfrm>
            <a:custGeom>
              <a:avLst/>
              <a:gdLst/>
              <a:ahLst/>
              <a:cxnLst/>
              <a:rect r="r" b="b" t="t" l="l"/>
              <a:pathLst>
                <a:path h="461149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66675" cap="sq">
              <a:solidFill>
                <a:srgbClr val="BEC8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8610" y="2312620"/>
            <a:ext cx="5855779" cy="585577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584389" y="11889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584389" y="1099966"/>
            <a:ext cx="1216244" cy="12162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197129" y="6351882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197129" y="6262859"/>
            <a:ext cx="1216244" cy="12162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197129" y="2810927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197129" y="2721904"/>
            <a:ext cx="1216244" cy="12162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584389" y="79707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584389" y="7881766"/>
            <a:ext cx="1216244" cy="121624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601661" y="45798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7601661" y="4490866"/>
            <a:ext cx="1216244" cy="121624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976824" y="1448022"/>
            <a:ext cx="431374" cy="517391"/>
          </a:xfrm>
          <a:custGeom>
            <a:avLst/>
            <a:gdLst/>
            <a:ahLst/>
            <a:cxnLst/>
            <a:rect r="r" b="b" t="t" l="l"/>
            <a:pathLst>
              <a:path h="517391" w="431374">
                <a:moveTo>
                  <a:pt x="0" y="0"/>
                </a:moveTo>
                <a:lnTo>
                  <a:pt x="431374" y="0"/>
                </a:lnTo>
                <a:lnTo>
                  <a:pt x="431374" y="517391"/>
                </a:lnTo>
                <a:lnTo>
                  <a:pt x="0" y="517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939259" y="8232019"/>
            <a:ext cx="515739" cy="515739"/>
          </a:xfrm>
          <a:custGeom>
            <a:avLst/>
            <a:gdLst/>
            <a:ahLst/>
            <a:cxnLst/>
            <a:rect r="r" b="b" t="t" l="l"/>
            <a:pathLst>
              <a:path h="515739" w="515739">
                <a:moveTo>
                  <a:pt x="0" y="0"/>
                </a:moveTo>
                <a:lnTo>
                  <a:pt x="515740" y="0"/>
                </a:lnTo>
                <a:lnTo>
                  <a:pt x="515740" y="515739"/>
                </a:lnTo>
                <a:lnTo>
                  <a:pt x="0" y="5157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505196" y="6570925"/>
            <a:ext cx="600110" cy="600110"/>
          </a:xfrm>
          <a:custGeom>
            <a:avLst/>
            <a:gdLst/>
            <a:ahLst/>
            <a:cxnLst/>
            <a:rect r="r" b="b" t="t" l="l"/>
            <a:pathLst>
              <a:path h="600110" w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505196" y="3074482"/>
            <a:ext cx="600110" cy="600110"/>
          </a:xfrm>
          <a:custGeom>
            <a:avLst/>
            <a:gdLst/>
            <a:ahLst/>
            <a:cxnLst/>
            <a:rect r="r" b="b" t="t" l="l"/>
            <a:pathLst>
              <a:path h="600110" w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949354" y="4825984"/>
            <a:ext cx="520857" cy="543267"/>
          </a:xfrm>
          <a:custGeom>
            <a:avLst/>
            <a:gdLst/>
            <a:ahLst/>
            <a:cxnLst/>
            <a:rect r="r" b="b" t="t" l="l"/>
            <a:pathLst>
              <a:path h="543267" w="520857">
                <a:moveTo>
                  <a:pt x="0" y="0"/>
                </a:moveTo>
                <a:lnTo>
                  <a:pt x="520858" y="0"/>
                </a:lnTo>
                <a:lnTo>
                  <a:pt x="520858" y="543267"/>
                </a:lnTo>
                <a:lnTo>
                  <a:pt x="0" y="543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151390" y="4270014"/>
            <a:ext cx="4742818" cy="170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51"/>
              </a:lnSpc>
              <a:spcBef>
                <a:spcPct val="0"/>
              </a:spcBef>
            </a:pPr>
            <a:r>
              <a:rPr lang="en-US" sz="6047" strike="noStrike" u="none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CONTENT OF PRESENTATION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65489" y="13669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65489" y="81487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13373" y="2988910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413373" y="6547181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17905" y="47578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60290" y="1416015"/>
            <a:ext cx="708924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Problem Motivation</a:t>
            </a:r>
            <a:r>
              <a:rPr lang="en-US" b="true" sz="3000" strike="noStrike" u="non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 &amp; Objective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27163" y="8245845"/>
            <a:ext cx="844197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Conclusion + Limitations + Future Work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27153" y="3017332"/>
            <a:ext cx="52488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376A89"/>
                </a:solidFill>
                <a:latin typeface="TT Fors Bold"/>
                <a:ea typeface="TT Fors Bold"/>
                <a:cs typeface="TT Fors Bold"/>
                <a:sym typeface="TT Fors Bold"/>
              </a:rPr>
              <a:t>Data &amp; Processing Setup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08174" y="6662453"/>
            <a:ext cx="52488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Results &amp; Decision Value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579578" y="4768834"/>
            <a:ext cx="798582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Technical Design and Methodology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75322" y="-2360119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4" y="0"/>
                </a:lnTo>
                <a:lnTo>
                  <a:pt x="3980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344423" y="9986222"/>
            <a:ext cx="8808348" cy="0"/>
          </a:xfrm>
          <a:prstGeom prst="line">
            <a:avLst/>
          </a:prstGeom>
          <a:ln cap="flat" w="38100">
            <a:solidFill>
              <a:srgbClr val="0646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264856" y="1282796"/>
            <a:ext cx="6998645" cy="1338913"/>
          </a:xfrm>
          <a:custGeom>
            <a:avLst/>
            <a:gdLst/>
            <a:ahLst/>
            <a:cxnLst/>
            <a:rect r="r" b="b" t="t" l="l"/>
            <a:pathLst>
              <a:path h="1338913" w="6998645">
                <a:moveTo>
                  <a:pt x="0" y="0"/>
                </a:moveTo>
                <a:lnTo>
                  <a:pt x="6998645" y="0"/>
                </a:lnTo>
                <a:lnTo>
                  <a:pt x="6998645" y="1338913"/>
                </a:lnTo>
                <a:lnTo>
                  <a:pt x="0" y="1338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6" t="-6557" r="-1097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07133" y="2918867"/>
            <a:ext cx="13273734" cy="970973"/>
            <a:chOff x="0" y="0"/>
            <a:chExt cx="17698313" cy="12946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50647" cy="1294631"/>
            </a:xfrm>
            <a:custGeom>
              <a:avLst/>
              <a:gdLst/>
              <a:ahLst/>
              <a:cxnLst/>
              <a:rect r="r" b="b" t="t" l="l"/>
              <a:pathLst>
                <a:path h="1294631" w="8250647">
                  <a:moveTo>
                    <a:pt x="0" y="0"/>
                  </a:moveTo>
                  <a:lnTo>
                    <a:pt x="8250647" y="0"/>
                  </a:lnTo>
                  <a:lnTo>
                    <a:pt x="8250647" y="1294631"/>
                  </a:lnTo>
                  <a:lnTo>
                    <a:pt x="0" y="1294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057" t="0" r="-9151" b="0"/>
              </a:stretch>
            </a:blipFill>
            <a:ln w="38100" cap="rnd">
              <a:solidFill>
                <a:srgbClr val="00167A"/>
              </a:solidFill>
              <a:prstDash val="solid"/>
              <a:round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9492327" y="0"/>
              <a:ext cx="8205986" cy="1294631"/>
            </a:xfrm>
            <a:custGeom>
              <a:avLst/>
              <a:gdLst/>
              <a:ahLst/>
              <a:cxnLst/>
              <a:rect r="r" b="b" t="t" l="l"/>
              <a:pathLst>
                <a:path h="1294631" w="8205986">
                  <a:moveTo>
                    <a:pt x="0" y="0"/>
                  </a:moveTo>
                  <a:lnTo>
                    <a:pt x="8205986" y="0"/>
                  </a:lnTo>
                  <a:lnTo>
                    <a:pt x="8205986" y="1294631"/>
                  </a:lnTo>
                  <a:lnTo>
                    <a:pt x="0" y="1294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698" t="-14635" r="-3957" b="0"/>
              </a:stretch>
            </a:blipFill>
            <a:ln w="38100" cap="rnd">
              <a:solidFill>
                <a:srgbClr val="00167A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2507133" y="4520151"/>
            <a:ext cx="13273734" cy="996837"/>
            <a:chOff x="0" y="0"/>
            <a:chExt cx="17698313" cy="13291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1893" cy="1329116"/>
            </a:xfrm>
            <a:custGeom>
              <a:avLst/>
              <a:gdLst/>
              <a:ahLst/>
              <a:cxnLst/>
              <a:rect r="r" b="b" t="t" l="l"/>
              <a:pathLst>
                <a:path h="1329116" w="8061893">
                  <a:moveTo>
                    <a:pt x="0" y="0"/>
                  </a:moveTo>
                  <a:lnTo>
                    <a:pt x="8061893" y="0"/>
                  </a:lnTo>
                  <a:lnTo>
                    <a:pt x="8061893" y="1329116"/>
                  </a:lnTo>
                  <a:lnTo>
                    <a:pt x="0" y="132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05" t="-707" r="0" b="-414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492327" y="31717"/>
              <a:ext cx="8205986" cy="1297399"/>
            </a:xfrm>
            <a:custGeom>
              <a:avLst/>
              <a:gdLst/>
              <a:ahLst/>
              <a:cxnLst/>
              <a:rect r="r" b="b" t="t" l="l"/>
              <a:pathLst>
                <a:path h="1297399" w="8205986">
                  <a:moveTo>
                    <a:pt x="0" y="0"/>
                  </a:moveTo>
                  <a:lnTo>
                    <a:pt x="8205986" y="0"/>
                  </a:lnTo>
                  <a:lnTo>
                    <a:pt x="8205986" y="1297399"/>
                  </a:lnTo>
                  <a:lnTo>
                    <a:pt x="0" y="1297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8503" r="0" b="-850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061314" y="6145637"/>
            <a:ext cx="6485319" cy="3477146"/>
          </a:xfrm>
          <a:custGeom>
            <a:avLst/>
            <a:gdLst/>
            <a:ahLst/>
            <a:cxnLst/>
            <a:rect r="r" b="b" t="t" l="l"/>
            <a:pathLst>
              <a:path h="3477146" w="6485319">
                <a:moveTo>
                  <a:pt x="0" y="0"/>
                </a:moveTo>
                <a:lnTo>
                  <a:pt x="6485318" y="0"/>
                </a:lnTo>
                <a:lnTo>
                  <a:pt x="6485318" y="3477147"/>
                </a:lnTo>
                <a:lnTo>
                  <a:pt x="0" y="34771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60" t="0" r="-1214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5600467" y="247650"/>
            <a:ext cx="740701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Data &amp; Processing Setup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5" r="0" b="-176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8610" y="2598370"/>
            <a:ext cx="5855779" cy="5855779"/>
          </a:xfrm>
          <a:custGeom>
            <a:avLst/>
            <a:gdLst/>
            <a:ahLst/>
            <a:cxnLst/>
            <a:rect r="r" b="b" t="t" l="l"/>
            <a:pathLst>
              <a:path h="5855779" w="5855779">
                <a:moveTo>
                  <a:pt x="0" y="0"/>
                </a:moveTo>
                <a:lnTo>
                  <a:pt x="5855779" y="0"/>
                </a:lnTo>
                <a:lnTo>
                  <a:pt x="5855779" y="5855779"/>
                </a:lnTo>
                <a:lnTo>
                  <a:pt x="0" y="5855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2658292" y="771870"/>
            <a:ext cx="12798869" cy="8937280"/>
            <a:chOff x="0" y="0"/>
            <a:chExt cx="660400" cy="4611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461149"/>
            </a:xfrm>
            <a:custGeom>
              <a:avLst/>
              <a:gdLst/>
              <a:ahLst/>
              <a:cxnLst/>
              <a:rect r="r" b="b" t="t" l="l"/>
              <a:pathLst>
                <a:path h="461149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66675" cap="sq">
              <a:solidFill>
                <a:srgbClr val="BEC8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8610" y="2312620"/>
            <a:ext cx="5855779" cy="585577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584389" y="11889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584389" y="1099966"/>
            <a:ext cx="1216244" cy="12162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197129" y="6351882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197129" y="6262859"/>
            <a:ext cx="1216244" cy="12162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197129" y="2810927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197129" y="2721904"/>
            <a:ext cx="1216244" cy="12162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584389" y="79707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584389" y="7881766"/>
            <a:ext cx="1216244" cy="121624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601661" y="45798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7601661" y="4490866"/>
            <a:ext cx="1216244" cy="121624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976824" y="1448022"/>
            <a:ext cx="431374" cy="517391"/>
          </a:xfrm>
          <a:custGeom>
            <a:avLst/>
            <a:gdLst/>
            <a:ahLst/>
            <a:cxnLst/>
            <a:rect r="r" b="b" t="t" l="l"/>
            <a:pathLst>
              <a:path h="517391" w="431374">
                <a:moveTo>
                  <a:pt x="0" y="0"/>
                </a:moveTo>
                <a:lnTo>
                  <a:pt x="431374" y="0"/>
                </a:lnTo>
                <a:lnTo>
                  <a:pt x="431374" y="517391"/>
                </a:lnTo>
                <a:lnTo>
                  <a:pt x="0" y="517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939259" y="8232019"/>
            <a:ext cx="515739" cy="515739"/>
          </a:xfrm>
          <a:custGeom>
            <a:avLst/>
            <a:gdLst/>
            <a:ahLst/>
            <a:cxnLst/>
            <a:rect r="r" b="b" t="t" l="l"/>
            <a:pathLst>
              <a:path h="515739" w="515739">
                <a:moveTo>
                  <a:pt x="0" y="0"/>
                </a:moveTo>
                <a:lnTo>
                  <a:pt x="515740" y="0"/>
                </a:lnTo>
                <a:lnTo>
                  <a:pt x="515740" y="515739"/>
                </a:lnTo>
                <a:lnTo>
                  <a:pt x="0" y="5157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505196" y="6570925"/>
            <a:ext cx="600110" cy="600110"/>
          </a:xfrm>
          <a:custGeom>
            <a:avLst/>
            <a:gdLst/>
            <a:ahLst/>
            <a:cxnLst/>
            <a:rect r="r" b="b" t="t" l="l"/>
            <a:pathLst>
              <a:path h="600110" w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505196" y="3074482"/>
            <a:ext cx="600110" cy="600110"/>
          </a:xfrm>
          <a:custGeom>
            <a:avLst/>
            <a:gdLst/>
            <a:ahLst/>
            <a:cxnLst/>
            <a:rect r="r" b="b" t="t" l="l"/>
            <a:pathLst>
              <a:path h="600110" w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949354" y="4825984"/>
            <a:ext cx="520857" cy="543267"/>
          </a:xfrm>
          <a:custGeom>
            <a:avLst/>
            <a:gdLst/>
            <a:ahLst/>
            <a:cxnLst/>
            <a:rect r="r" b="b" t="t" l="l"/>
            <a:pathLst>
              <a:path h="543267" w="520857">
                <a:moveTo>
                  <a:pt x="0" y="0"/>
                </a:moveTo>
                <a:lnTo>
                  <a:pt x="520858" y="0"/>
                </a:lnTo>
                <a:lnTo>
                  <a:pt x="520858" y="543267"/>
                </a:lnTo>
                <a:lnTo>
                  <a:pt x="0" y="543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151390" y="4270014"/>
            <a:ext cx="4742818" cy="170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51"/>
              </a:lnSpc>
              <a:spcBef>
                <a:spcPct val="0"/>
              </a:spcBef>
            </a:pPr>
            <a:r>
              <a:rPr lang="en-US" sz="6047" strike="noStrike" u="none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CONTENT OF PRESENTATION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65489" y="13669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65489" y="81487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13373" y="2988910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413373" y="6547181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17905" y="47578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60290" y="1416015"/>
            <a:ext cx="75990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Problem Motivation</a:t>
            </a:r>
            <a:r>
              <a:rPr lang="en-US" b="true" sz="3000" strike="noStrike" u="non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 &amp; Objective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27163" y="8202767"/>
            <a:ext cx="876083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Conclusion + Limitations + Future Work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27153" y="3017332"/>
            <a:ext cx="52488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Data &amp; Processing Setup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32221" y="6656686"/>
            <a:ext cx="52488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Results &amp; Decision Value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579578" y="4857750"/>
            <a:ext cx="748247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376A89"/>
                </a:solidFill>
                <a:latin typeface="TT Fors Bold"/>
                <a:ea typeface="TT Fors Bold"/>
                <a:cs typeface="TT Fors Bold"/>
                <a:sym typeface="TT Fors Bold"/>
              </a:rPr>
              <a:t>Technical Design and Methodology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29994" y="9029606"/>
            <a:ext cx="4715092" cy="4874625"/>
          </a:xfrm>
          <a:custGeom>
            <a:avLst/>
            <a:gdLst/>
            <a:ahLst/>
            <a:cxnLst/>
            <a:rect r="r" b="b" t="t" l="l"/>
            <a:pathLst>
              <a:path h="4874625" w="4715092">
                <a:moveTo>
                  <a:pt x="0" y="0"/>
                </a:moveTo>
                <a:lnTo>
                  <a:pt x="4715092" y="0"/>
                </a:lnTo>
                <a:lnTo>
                  <a:pt x="4715092" y="4874626"/>
                </a:lnTo>
                <a:lnTo>
                  <a:pt x="0" y="4874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36826" y="9595381"/>
            <a:ext cx="7315200" cy="1383238"/>
          </a:xfrm>
          <a:custGeom>
            <a:avLst/>
            <a:gdLst/>
            <a:ahLst/>
            <a:cxnLst/>
            <a:rect r="r" b="b" t="t" l="l"/>
            <a:pathLst>
              <a:path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8"/>
                </a:lnTo>
                <a:lnTo>
                  <a:pt x="0" y="138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2114035" y="3404295"/>
          <a:ext cx="16230600" cy="7626658"/>
        </p:xfrm>
        <a:graphic>
          <a:graphicData uri="http://schemas.openxmlformats.org/presentationml/2006/ole">
            <p:oleObj imgW="19469100" imgH="10858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409820" y="247650"/>
            <a:ext cx="5613849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Model introducing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56042"/>
            <a:ext cx="15551067" cy="16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8"/>
              </a:lnSpc>
            </a:pPr>
            <a:r>
              <a:rPr lang="en-US" sz="2200">
                <a:solidFill>
                  <a:srgbClr val="064663"/>
                </a:solidFill>
                <a:latin typeface="TT Fors"/>
                <a:ea typeface="TT Fors"/>
                <a:cs typeface="TT Fors"/>
                <a:sym typeface="TT Fors"/>
              </a:rPr>
              <a:t>We developed two complementary modules.</a:t>
            </a:r>
          </a:p>
          <a:p>
            <a:pPr algn="just">
              <a:lnSpc>
                <a:spcPts val="3388"/>
              </a:lnSpc>
            </a:pPr>
            <a:r>
              <a:rPr lang="en-US" sz="2200">
                <a:solidFill>
                  <a:srgbClr val="064663"/>
                </a:solidFill>
                <a:latin typeface="TT Fors"/>
                <a:ea typeface="TT Fors"/>
                <a:cs typeface="TT Fors"/>
                <a:sym typeface="TT Fors"/>
              </a:rPr>
              <a:t>The Food Safety Module uses MiniLM and DeBERTa to detect hidden hazard complaints.</a:t>
            </a:r>
          </a:p>
          <a:p>
            <a:pPr algn="just">
              <a:lnSpc>
                <a:spcPts val="3388"/>
              </a:lnSpc>
            </a:pPr>
            <a:r>
              <a:rPr lang="en-US" sz="2200">
                <a:solidFill>
                  <a:srgbClr val="064663"/>
                </a:solidFill>
                <a:latin typeface="TT Fors"/>
                <a:ea typeface="TT Fors"/>
                <a:cs typeface="TT Fors"/>
                <a:sym typeface="TT Fors"/>
              </a:rPr>
              <a:t>The Business Decision Engine uses TF-IDF, classical ML models, aspect extraction, and Wilson credibility scoring to convert reviews into product-level business actions.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29994" y="9029606"/>
            <a:ext cx="4715092" cy="4874625"/>
          </a:xfrm>
          <a:custGeom>
            <a:avLst/>
            <a:gdLst/>
            <a:ahLst/>
            <a:cxnLst/>
            <a:rect r="r" b="b" t="t" l="l"/>
            <a:pathLst>
              <a:path h="4874625" w="4715092">
                <a:moveTo>
                  <a:pt x="0" y="0"/>
                </a:moveTo>
                <a:lnTo>
                  <a:pt x="4715092" y="0"/>
                </a:lnTo>
                <a:lnTo>
                  <a:pt x="4715092" y="4874626"/>
                </a:lnTo>
                <a:lnTo>
                  <a:pt x="0" y="4874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36826" y="9595381"/>
            <a:ext cx="7315200" cy="1383238"/>
          </a:xfrm>
          <a:custGeom>
            <a:avLst/>
            <a:gdLst/>
            <a:ahLst/>
            <a:cxnLst/>
            <a:rect r="r" b="b" t="t" l="l"/>
            <a:pathLst>
              <a:path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8"/>
                </a:lnTo>
                <a:lnTo>
                  <a:pt x="0" y="138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84675" y="1170265"/>
            <a:ext cx="4975460" cy="7467858"/>
          </a:xfrm>
          <a:custGeom>
            <a:avLst/>
            <a:gdLst/>
            <a:ahLst/>
            <a:cxnLst/>
            <a:rect r="r" b="b" t="t" l="l"/>
            <a:pathLst>
              <a:path h="7467858" w="4975460">
                <a:moveTo>
                  <a:pt x="0" y="0"/>
                </a:moveTo>
                <a:lnTo>
                  <a:pt x="4975461" y="0"/>
                </a:lnTo>
                <a:lnTo>
                  <a:pt x="4975461" y="7467858"/>
                </a:lnTo>
                <a:lnTo>
                  <a:pt x="0" y="74678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1876" y="1341697"/>
            <a:ext cx="12162244" cy="7296426"/>
          </a:xfrm>
          <a:custGeom>
            <a:avLst/>
            <a:gdLst/>
            <a:ahLst/>
            <a:cxnLst/>
            <a:rect r="r" b="b" t="t" l="l"/>
            <a:pathLst>
              <a:path h="7296426" w="12162244">
                <a:moveTo>
                  <a:pt x="0" y="0"/>
                </a:moveTo>
                <a:lnTo>
                  <a:pt x="12162244" y="0"/>
                </a:lnTo>
                <a:lnTo>
                  <a:pt x="12162244" y="7296426"/>
                </a:lnTo>
                <a:lnTo>
                  <a:pt x="0" y="72964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1055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9820" y="389215"/>
            <a:ext cx="729690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Food Safety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29994" y="9029606"/>
            <a:ext cx="4715092" cy="4874625"/>
          </a:xfrm>
          <a:custGeom>
            <a:avLst/>
            <a:gdLst/>
            <a:ahLst/>
            <a:cxnLst/>
            <a:rect r="r" b="b" t="t" l="l"/>
            <a:pathLst>
              <a:path h="4874625" w="4715092">
                <a:moveTo>
                  <a:pt x="0" y="0"/>
                </a:moveTo>
                <a:lnTo>
                  <a:pt x="4715092" y="0"/>
                </a:lnTo>
                <a:lnTo>
                  <a:pt x="4715092" y="4874626"/>
                </a:lnTo>
                <a:lnTo>
                  <a:pt x="0" y="4874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36826" y="9595381"/>
            <a:ext cx="7315200" cy="1383238"/>
          </a:xfrm>
          <a:custGeom>
            <a:avLst/>
            <a:gdLst/>
            <a:ahLst/>
            <a:cxnLst/>
            <a:rect r="r" b="b" t="t" l="l"/>
            <a:pathLst>
              <a:path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8"/>
                </a:lnTo>
                <a:lnTo>
                  <a:pt x="0" y="138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90494" y="1415744"/>
            <a:ext cx="5763183" cy="7455513"/>
          </a:xfrm>
          <a:custGeom>
            <a:avLst/>
            <a:gdLst/>
            <a:ahLst/>
            <a:cxnLst/>
            <a:rect r="r" b="b" t="t" l="l"/>
            <a:pathLst>
              <a:path h="7455513" w="5763183">
                <a:moveTo>
                  <a:pt x="0" y="0"/>
                </a:moveTo>
                <a:lnTo>
                  <a:pt x="5763183" y="0"/>
                </a:lnTo>
                <a:lnTo>
                  <a:pt x="5763183" y="7455512"/>
                </a:lnTo>
                <a:lnTo>
                  <a:pt x="0" y="74555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86" t="-999" r="-1939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409820" y="2439944"/>
          <a:ext cx="7586157" cy="4274588"/>
        </p:xfrm>
        <a:graphic>
          <a:graphicData uri="http://schemas.openxmlformats.org/presentationml/2006/ole">
            <p:oleObj imgW="9105900" imgH="57912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09820" y="247650"/>
            <a:ext cx="662053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Business Intelligence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29994" y="9029606"/>
            <a:ext cx="4715092" cy="4874625"/>
          </a:xfrm>
          <a:custGeom>
            <a:avLst/>
            <a:gdLst/>
            <a:ahLst/>
            <a:cxnLst/>
            <a:rect r="r" b="b" t="t" l="l"/>
            <a:pathLst>
              <a:path h="4874625" w="4715092">
                <a:moveTo>
                  <a:pt x="0" y="0"/>
                </a:moveTo>
                <a:lnTo>
                  <a:pt x="4715092" y="0"/>
                </a:lnTo>
                <a:lnTo>
                  <a:pt x="4715092" y="4874626"/>
                </a:lnTo>
                <a:lnTo>
                  <a:pt x="0" y="4874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36826" y="9595381"/>
            <a:ext cx="7315200" cy="1383238"/>
          </a:xfrm>
          <a:custGeom>
            <a:avLst/>
            <a:gdLst/>
            <a:ahLst/>
            <a:cxnLst/>
            <a:rect r="r" b="b" t="t" l="l"/>
            <a:pathLst>
              <a:path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8"/>
                </a:lnTo>
                <a:lnTo>
                  <a:pt x="0" y="138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1405" y="3138675"/>
            <a:ext cx="7882341" cy="4699846"/>
          </a:xfrm>
          <a:custGeom>
            <a:avLst/>
            <a:gdLst/>
            <a:ahLst/>
            <a:cxnLst/>
            <a:rect r="r" b="b" t="t" l="l"/>
            <a:pathLst>
              <a:path h="4699846" w="7882341">
                <a:moveTo>
                  <a:pt x="0" y="0"/>
                </a:moveTo>
                <a:lnTo>
                  <a:pt x="7882341" y="0"/>
                </a:lnTo>
                <a:lnTo>
                  <a:pt x="7882341" y="4699845"/>
                </a:lnTo>
                <a:lnTo>
                  <a:pt x="0" y="46998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28475" y="2634911"/>
            <a:ext cx="7190177" cy="5898029"/>
          </a:xfrm>
          <a:custGeom>
            <a:avLst/>
            <a:gdLst/>
            <a:ahLst/>
            <a:cxnLst/>
            <a:rect r="r" b="b" t="t" l="l"/>
            <a:pathLst>
              <a:path h="5898029" w="7190177">
                <a:moveTo>
                  <a:pt x="0" y="0"/>
                </a:moveTo>
                <a:lnTo>
                  <a:pt x="7190177" y="0"/>
                </a:lnTo>
                <a:lnTo>
                  <a:pt x="7190177" y="5898030"/>
                </a:lnTo>
                <a:lnTo>
                  <a:pt x="0" y="58980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9820" y="247650"/>
            <a:ext cx="662053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Business Intelligence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5" r="0" b="-176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8610" y="2598370"/>
            <a:ext cx="5855779" cy="5855779"/>
          </a:xfrm>
          <a:custGeom>
            <a:avLst/>
            <a:gdLst/>
            <a:ahLst/>
            <a:cxnLst/>
            <a:rect r="r" b="b" t="t" l="l"/>
            <a:pathLst>
              <a:path h="5855779" w="5855779">
                <a:moveTo>
                  <a:pt x="0" y="0"/>
                </a:moveTo>
                <a:lnTo>
                  <a:pt x="5855779" y="0"/>
                </a:lnTo>
                <a:lnTo>
                  <a:pt x="5855779" y="5855779"/>
                </a:lnTo>
                <a:lnTo>
                  <a:pt x="0" y="5855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2658292" y="771870"/>
            <a:ext cx="12798869" cy="8937280"/>
            <a:chOff x="0" y="0"/>
            <a:chExt cx="660400" cy="4611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461149"/>
            </a:xfrm>
            <a:custGeom>
              <a:avLst/>
              <a:gdLst/>
              <a:ahLst/>
              <a:cxnLst/>
              <a:rect r="r" b="b" t="t" l="l"/>
              <a:pathLst>
                <a:path h="461149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66675" cap="sq">
              <a:solidFill>
                <a:srgbClr val="BEC8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8610" y="2312620"/>
            <a:ext cx="5855779" cy="585577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584389" y="11889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584389" y="1099966"/>
            <a:ext cx="1216244" cy="12162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197129" y="6351882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197129" y="6262859"/>
            <a:ext cx="1216244" cy="12162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197129" y="2810927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197129" y="2721904"/>
            <a:ext cx="1216244" cy="12162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584389" y="79707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584389" y="7881766"/>
            <a:ext cx="1216244" cy="121624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601661" y="45798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7601661" y="4490866"/>
            <a:ext cx="1216244" cy="121624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976824" y="1448022"/>
            <a:ext cx="431374" cy="517391"/>
          </a:xfrm>
          <a:custGeom>
            <a:avLst/>
            <a:gdLst/>
            <a:ahLst/>
            <a:cxnLst/>
            <a:rect r="r" b="b" t="t" l="l"/>
            <a:pathLst>
              <a:path h="517391" w="431374">
                <a:moveTo>
                  <a:pt x="0" y="0"/>
                </a:moveTo>
                <a:lnTo>
                  <a:pt x="431374" y="0"/>
                </a:lnTo>
                <a:lnTo>
                  <a:pt x="431374" y="517391"/>
                </a:lnTo>
                <a:lnTo>
                  <a:pt x="0" y="517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939259" y="8232019"/>
            <a:ext cx="515739" cy="515739"/>
          </a:xfrm>
          <a:custGeom>
            <a:avLst/>
            <a:gdLst/>
            <a:ahLst/>
            <a:cxnLst/>
            <a:rect r="r" b="b" t="t" l="l"/>
            <a:pathLst>
              <a:path h="515739" w="515739">
                <a:moveTo>
                  <a:pt x="0" y="0"/>
                </a:moveTo>
                <a:lnTo>
                  <a:pt x="515740" y="0"/>
                </a:lnTo>
                <a:lnTo>
                  <a:pt x="515740" y="515739"/>
                </a:lnTo>
                <a:lnTo>
                  <a:pt x="0" y="5157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505196" y="6570925"/>
            <a:ext cx="600110" cy="600110"/>
          </a:xfrm>
          <a:custGeom>
            <a:avLst/>
            <a:gdLst/>
            <a:ahLst/>
            <a:cxnLst/>
            <a:rect r="r" b="b" t="t" l="l"/>
            <a:pathLst>
              <a:path h="600110" w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505196" y="3074482"/>
            <a:ext cx="600110" cy="600110"/>
          </a:xfrm>
          <a:custGeom>
            <a:avLst/>
            <a:gdLst/>
            <a:ahLst/>
            <a:cxnLst/>
            <a:rect r="r" b="b" t="t" l="l"/>
            <a:pathLst>
              <a:path h="600110" w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949354" y="4825984"/>
            <a:ext cx="520857" cy="543267"/>
          </a:xfrm>
          <a:custGeom>
            <a:avLst/>
            <a:gdLst/>
            <a:ahLst/>
            <a:cxnLst/>
            <a:rect r="r" b="b" t="t" l="l"/>
            <a:pathLst>
              <a:path h="543267" w="520857">
                <a:moveTo>
                  <a:pt x="0" y="0"/>
                </a:moveTo>
                <a:lnTo>
                  <a:pt x="520858" y="0"/>
                </a:lnTo>
                <a:lnTo>
                  <a:pt x="520858" y="543267"/>
                </a:lnTo>
                <a:lnTo>
                  <a:pt x="0" y="543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151390" y="4270014"/>
            <a:ext cx="4742818" cy="170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51"/>
              </a:lnSpc>
              <a:spcBef>
                <a:spcPct val="0"/>
              </a:spcBef>
            </a:pPr>
            <a:r>
              <a:rPr lang="en-US" sz="6047" strike="noStrike" u="none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CONTENT OF PRESENTATION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65489" y="13669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65489" y="81487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13373" y="2988910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413373" y="6547181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17905" y="47578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60290" y="1416015"/>
            <a:ext cx="73336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Problem Motivation</a:t>
            </a:r>
            <a:r>
              <a:rPr lang="en-US" b="true" sz="3000" strike="noStrike" u="non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 &amp; Objective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60290" y="8264895"/>
            <a:ext cx="89767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Conclusion + Limitations + Future Work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27153" y="3017332"/>
            <a:ext cx="52488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Data &amp; Processing Setup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08174" y="6662453"/>
            <a:ext cx="52488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376A89"/>
                </a:solidFill>
                <a:latin typeface="TT Fors Bold"/>
                <a:ea typeface="TT Fors Bold"/>
                <a:cs typeface="TT Fors Bold"/>
                <a:sym typeface="TT Fors Bold"/>
              </a:rPr>
              <a:t>Results &amp; Decision Value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579578" y="4768834"/>
            <a:ext cx="749820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Technical Design and Methodology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327492">
            <a:off x="-2553891" y="390250"/>
            <a:ext cx="4710902" cy="2355451"/>
          </a:xfrm>
          <a:custGeom>
            <a:avLst/>
            <a:gdLst/>
            <a:ahLst/>
            <a:cxnLst/>
            <a:rect r="r" b="b" t="t" l="l"/>
            <a:pathLst>
              <a:path h="2355451" w="4710902">
                <a:moveTo>
                  <a:pt x="0" y="0"/>
                </a:moveTo>
                <a:lnTo>
                  <a:pt x="4710902" y="0"/>
                </a:lnTo>
                <a:lnTo>
                  <a:pt x="4710902" y="2355451"/>
                </a:lnTo>
                <a:lnTo>
                  <a:pt x="0" y="2355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29994" y="9029606"/>
            <a:ext cx="4715092" cy="4874625"/>
          </a:xfrm>
          <a:custGeom>
            <a:avLst/>
            <a:gdLst/>
            <a:ahLst/>
            <a:cxnLst/>
            <a:rect r="r" b="b" t="t" l="l"/>
            <a:pathLst>
              <a:path h="4874625" w="4715092">
                <a:moveTo>
                  <a:pt x="0" y="0"/>
                </a:moveTo>
                <a:lnTo>
                  <a:pt x="4715092" y="0"/>
                </a:lnTo>
                <a:lnTo>
                  <a:pt x="4715092" y="4874626"/>
                </a:lnTo>
                <a:lnTo>
                  <a:pt x="0" y="487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78461" y="-80835"/>
            <a:ext cx="7315200" cy="1383238"/>
          </a:xfrm>
          <a:custGeom>
            <a:avLst/>
            <a:gdLst/>
            <a:ahLst/>
            <a:cxnLst/>
            <a:rect r="r" b="b" t="t" l="l"/>
            <a:pathLst>
              <a:path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7"/>
                </a:lnTo>
                <a:lnTo>
                  <a:pt x="0" y="13832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4965" y="5838081"/>
            <a:ext cx="9311126" cy="4448919"/>
          </a:xfrm>
          <a:custGeom>
            <a:avLst/>
            <a:gdLst/>
            <a:ahLst/>
            <a:cxnLst/>
            <a:rect r="r" b="b" t="t" l="l"/>
            <a:pathLst>
              <a:path h="4448919" w="9311126">
                <a:moveTo>
                  <a:pt x="0" y="0"/>
                </a:moveTo>
                <a:lnTo>
                  <a:pt x="9311126" y="0"/>
                </a:lnTo>
                <a:lnTo>
                  <a:pt x="9311126" y="4448919"/>
                </a:lnTo>
                <a:lnTo>
                  <a:pt x="0" y="4448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028700" y="1769219"/>
          <a:ext cx="9429750" cy="3143250"/>
        </p:xfrm>
        <a:graphic>
          <a:graphicData uri="http://schemas.openxmlformats.org/presentationml/2006/ole">
            <p:oleObj imgW="11315700" imgH="50292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12961051" y="6808563"/>
            <a:ext cx="2204890" cy="2221043"/>
          </a:xfrm>
          <a:custGeom>
            <a:avLst/>
            <a:gdLst/>
            <a:ahLst/>
            <a:cxnLst/>
            <a:rect r="r" b="b" t="t" l="l"/>
            <a:pathLst>
              <a:path h="2221043" w="2204890">
                <a:moveTo>
                  <a:pt x="0" y="0"/>
                </a:moveTo>
                <a:lnTo>
                  <a:pt x="2204890" y="0"/>
                </a:lnTo>
                <a:lnTo>
                  <a:pt x="2204890" y="2221043"/>
                </a:lnTo>
                <a:lnTo>
                  <a:pt x="0" y="22210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65352" y="752475"/>
            <a:ext cx="833176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INSIGHT 1: DISPLAY ALGORITHM OPTIMIZATION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1746" y="1848155"/>
            <a:ext cx="7287316" cy="440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482" indent="-277741" lvl="1">
              <a:lnSpc>
                <a:spcPts val="5042"/>
              </a:lnSpc>
              <a:buFont typeface="Arial"/>
              <a:buChar char="•"/>
            </a:pPr>
            <a:r>
              <a:rPr lang="en-US" b="true" sz="2572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Prioritize Length: </a:t>
            </a:r>
            <a:r>
              <a:rPr lang="en-US" sz="2572">
                <a:solidFill>
                  <a:srgbClr val="064663"/>
                </a:solidFill>
                <a:latin typeface="DM Sans"/>
                <a:ea typeface="DM Sans"/>
                <a:cs typeface="DM Sans"/>
                <a:sym typeface="DM Sans"/>
              </a:rPr>
              <a:t>Configure the algorithm to automatically boost reviews with over 600 characters to top-of-page priority.</a:t>
            </a:r>
          </a:p>
          <a:p>
            <a:pPr algn="l" marL="555482" indent="-277741" lvl="1">
              <a:lnSpc>
                <a:spcPts val="5042"/>
              </a:lnSpc>
              <a:buFont typeface="Arial"/>
              <a:buChar char="•"/>
            </a:pPr>
            <a:r>
              <a:rPr lang="en-US" b="true" sz="2572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Prioritize Multimedia: </a:t>
            </a:r>
            <a:r>
              <a:rPr lang="en-US" sz="2572">
                <a:solidFill>
                  <a:srgbClr val="064663"/>
                </a:solidFill>
                <a:latin typeface="DM Sans"/>
                <a:ea typeface="DM Sans"/>
                <a:cs typeface="DM Sans"/>
                <a:sym typeface="DM Sans"/>
              </a:rPr>
              <a:t>Highlight reviews featuring images and videos, as these correlate with the highest utility and helpfulness for potential buyers.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327492">
            <a:off x="-2553891" y="390250"/>
            <a:ext cx="4710902" cy="2355451"/>
          </a:xfrm>
          <a:custGeom>
            <a:avLst/>
            <a:gdLst/>
            <a:ahLst/>
            <a:cxnLst/>
            <a:rect r="r" b="b" t="t" l="l"/>
            <a:pathLst>
              <a:path h="2355451" w="4710902">
                <a:moveTo>
                  <a:pt x="0" y="0"/>
                </a:moveTo>
                <a:lnTo>
                  <a:pt x="4710902" y="0"/>
                </a:lnTo>
                <a:lnTo>
                  <a:pt x="4710902" y="2355451"/>
                </a:lnTo>
                <a:lnTo>
                  <a:pt x="0" y="2355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29994" y="9029606"/>
            <a:ext cx="4715092" cy="4874625"/>
          </a:xfrm>
          <a:custGeom>
            <a:avLst/>
            <a:gdLst/>
            <a:ahLst/>
            <a:cxnLst/>
            <a:rect r="r" b="b" t="t" l="l"/>
            <a:pathLst>
              <a:path h="4874625" w="4715092">
                <a:moveTo>
                  <a:pt x="0" y="0"/>
                </a:moveTo>
                <a:lnTo>
                  <a:pt x="4715092" y="0"/>
                </a:lnTo>
                <a:lnTo>
                  <a:pt x="4715092" y="4874626"/>
                </a:lnTo>
                <a:lnTo>
                  <a:pt x="0" y="487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78461" y="-80835"/>
            <a:ext cx="7315200" cy="1383238"/>
          </a:xfrm>
          <a:custGeom>
            <a:avLst/>
            <a:gdLst/>
            <a:ahLst/>
            <a:cxnLst/>
            <a:rect r="r" b="b" t="t" l="l"/>
            <a:pathLst>
              <a:path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7"/>
                </a:lnTo>
                <a:lnTo>
                  <a:pt x="0" y="13832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729288" y="2636369"/>
            <a:ext cx="8204020" cy="427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899"/>
              </a:lnSpc>
              <a:buFont typeface="Arial"/>
              <a:buChar char="•"/>
            </a:pP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Reward Power Users: </a:t>
            </a:r>
            <a:r>
              <a:rPr lang="en-US" sz="2499">
                <a:solidFill>
                  <a:srgbClr val="064663"/>
                </a:solidFill>
                <a:latin typeface="DM Sans"/>
                <a:ea typeface="DM Sans"/>
                <a:cs typeface="DM Sans"/>
                <a:sym typeface="DM Sans"/>
              </a:rPr>
              <a:t>Identify customers with the highest (100+) reviews for exclusive vouchers.</a:t>
            </a:r>
          </a:p>
          <a:p>
            <a:pPr algn="l" marL="539749" indent="-269875" lvl="1">
              <a:lnSpc>
                <a:spcPts val="4899"/>
              </a:lnSpc>
              <a:buFont typeface="Arial"/>
              <a:buChar char="•"/>
            </a:pP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Expert Programs: </a:t>
            </a:r>
            <a:r>
              <a:rPr lang="en-US" sz="2499">
                <a:solidFill>
                  <a:srgbClr val="064663"/>
                </a:solidFill>
                <a:latin typeface="DM Sans"/>
                <a:ea typeface="DM Sans"/>
                <a:cs typeface="DM Sans"/>
                <a:sym typeface="DM Sans"/>
              </a:rPr>
              <a:t>Invite top contributors to join professional "Expert Reviewer" programs.</a:t>
            </a:r>
          </a:p>
          <a:p>
            <a:pPr algn="l" marL="539749" indent="-269875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User ID Tracking: </a:t>
            </a:r>
            <a:r>
              <a:rPr lang="en-US" sz="2499">
                <a:solidFill>
                  <a:srgbClr val="064663"/>
                </a:solidFill>
                <a:latin typeface="DM Sans"/>
                <a:ea typeface="DM Sans"/>
                <a:cs typeface="DM Sans"/>
                <a:sym typeface="DM Sans"/>
              </a:rPr>
              <a:t>Utilize User ID data to accurately track activity levels and identify the most valuable brand advocates.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460147" y="7783396"/>
            <a:ext cx="1609778" cy="1474904"/>
          </a:xfrm>
          <a:custGeom>
            <a:avLst/>
            <a:gdLst/>
            <a:ahLst/>
            <a:cxnLst/>
            <a:rect r="r" b="b" t="t" l="l"/>
            <a:pathLst>
              <a:path h="1474904" w="1609778">
                <a:moveTo>
                  <a:pt x="0" y="0"/>
                </a:moveTo>
                <a:lnTo>
                  <a:pt x="1609778" y="0"/>
                </a:lnTo>
                <a:lnTo>
                  <a:pt x="1609778" y="1474904"/>
                </a:lnTo>
                <a:lnTo>
                  <a:pt x="0" y="14749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52153" y="752475"/>
            <a:ext cx="799184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INSIGHT 2: LOYALTY MARKETING STRATEGY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599324" y="1442117"/>
            <a:ext cx="11037605" cy="82665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327492">
            <a:off x="-2553891" y="390250"/>
            <a:ext cx="4710902" cy="2355451"/>
          </a:xfrm>
          <a:custGeom>
            <a:avLst/>
            <a:gdLst/>
            <a:ahLst/>
            <a:cxnLst/>
            <a:rect r="r" b="b" t="t" l="l"/>
            <a:pathLst>
              <a:path h="2355451" w="4710902">
                <a:moveTo>
                  <a:pt x="0" y="0"/>
                </a:moveTo>
                <a:lnTo>
                  <a:pt x="4710902" y="0"/>
                </a:lnTo>
                <a:lnTo>
                  <a:pt x="4710902" y="2355451"/>
                </a:lnTo>
                <a:lnTo>
                  <a:pt x="0" y="2355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29994" y="9029606"/>
            <a:ext cx="4715092" cy="4874625"/>
          </a:xfrm>
          <a:custGeom>
            <a:avLst/>
            <a:gdLst/>
            <a:ahLst/>
            <a:cxnLst/>
            <a:rect r="r" b="b" t="t" l="l"/>
            <a:pathLst>
              <a:path h="4874625" w="4715092">
                <a:moveTo>
                  <a:pt x="0" y="0"/>
                </a:moveTo>
                <a:lnTo>
                  <a:pt x="4715092" y="0"/>
                </a:lnTo>
                <a:lnTo>
                  <a:pt x="4715092" y="4874626"/>
                </a:lnTo>
                <a:lnTo>
                  <a:pt x="0" y="487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78461" y="-80835"/>
            <a:ext cx="7315200" cy="1383238"/>
          </a:xfrm>
          <a:custGeom>
            <a:avLst/>
            <a:gdLst/>
            <a:ahLst/>
            <a:cxnLst/>
            <a:rect r="r" b="b" t="t" l="l"/>
            <a:pathLst>
              <a:path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7"/>
                </a:lnTo>
                <a:lnTo>
                  <a:pt x="0" y="13832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52153" y="752475"/>
            <a:ext cx="799184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INSIGHT 3: PRODUCT QUALITY EARLY WARNING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34258" y="8351223"/>
            <a:ext cx="11742197" cy="165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1491" indent="-250746" lvl="1">
              <a:lnSpc>
                <a:spcPts val="45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22" strike="noStrike" u="none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Automated Ad Suppression: </a:t>
            </a:r>
            <a:r>
              <a:rPr lang="en-US" sz="2322" strike="noStrike" u="none">
                <a:solidFill>
                  <a:srgbClr val="064663"/>
                </a:solidFill>
                <a:latin typeface="DM Sans"/>
                <a:ea typeface="DM Sans"/>
                <a:cs typeface="DM Sans"/>
                <a:sym typeface="DM Sans"/>
              </a:rPr>
              <a:t>Automatically pause marketing spend and internal promotions for products that trigger a "Red Flag" status (e.g., &gt;91% low-star rate) to protect brand reputation.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3984327" y="1584242"/>
          <a:ext cx="10895166" cy="6418372"/>
        </p:xfrm>
        <a:graphic>
          <a:graphicData uri="http://schemas.openxmlformats.org/drawingml/2006/table">
            <a:tbl>
              <a:tblPr/>
              <a:tblGrid>
                <a:gridCol w="2283038"/>
                <a:gridCol w="1458923"/>
                <a:gridCol w="1953392"/>
                <a:gridCol w="1668698"/>
                <a:gridCol w="1668698"/>
                <a:gridCol w="1862417"/>
              </a:tblGrid>
              <a:tr h="9729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Product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A8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A8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total_reviews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A8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lowreviews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A8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low-rate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A8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warning_months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A89"/>
                    </a:solidFill>
                  </a:tcPr>
                </a:tc>
              </a:tr>
              <a:tr h="5437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B006N3I69A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2011-02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7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B006N3I69A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2011-03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7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B000X1Q1G8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2012-07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7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B004H3N2LU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2011-01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0.944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7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B001M08YZA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2012-09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0.937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7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B006N3I69A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2011-01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0.935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7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B004OAZ36I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2012-10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0.928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7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B0083T5TAQ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2012-10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0.928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77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B000084ETV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2008-08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0.916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77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B0009XQWDM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2008-08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0.916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3586" y="9616036"/>
            <a:ext cx="7826559" cy="1479931"/>
          </a:xfrm>
          <a:custGeom>
            <a:avLst/>
            <a:gdLst/>
            <a:ahLst/>
            <a:cxnLst/>
            <a:rect r="r" b="b" t="t" l="l"/>
            <a:pathLst>
              <a:path h="1479931" w="7826559">
                <a:moveTo>
                  <a:pt x="0" y="0"/>
                </a:moveTo>
                <a:lnTo>
                  <a:pt x="7826560" y="0"/>
                </a:lnTo>
                <a:lnTo>
                  <a:pt x="7826560" y="1479931"/>
                </a:lnTo>
                <a:lnTo>
                  <a:pt x="0" y="1479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35054" y="-2889862"/>
            <a:ext cx="4715092" cy="4874625"/>
          </a:xfrm>
          <a:custGeom>
            <a:avLst/>
            <a:gdLst/>
            <a:ahLst/>
            <a:cxnLst/>
            <a:rect r="r" b="b" t="t" l="l"/>
            <a:pathLst>
              <a:path h="4874625" w="4715092">
                <a:moveTo>
                  <a:pt x="0" y="0"/>
                </a:moveTo>
                <a:lnTo>
                  <a:pt x="4715092" y="0"/>
                </a:lnTo>
                <a:lnTo>
                  <a:pt x="4715092" y="4874625"/>
                </a:lnTo>
                <a:lnTo>
                  <a:pt x="0" y="4874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16617" y="7273429"/>
            <a:ext cx="10240907" cy="2342607"/>
          </a:xfrm>
          <a:custGeom>
            <a:avLst/>
            <a:gdLst/>
            <a:ahLst/>
            <a:cxnLst/>
            <a:rect r="r" b="b" t="t" l="l"/>
            <a:pathLst>
              <a:path h="2342607" w="10240907">
                <a:moveTo>
                  <a:pt x="0" y="0"/>
                </a:moveTo>
                <a:lnTo>
                  <a:pt x="10240907" y="0"/>
                </a:lnTo>
                <a:lnTo>
                  <a:pt x="10240907" y="2342607"/>
                </a:lnTo>
                <a:lnTo>
                  <a:pt x="0" y="23426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4380" y="1247063"/>
            <a:ext cx="9769720" cy="5666438"/>
          </a:xfrm>
          <a:custGeom>
            <a:avLst/>
            <a:gdLst/>
            <a:ahLst/>
            <a:cxnLst/>
            <a:rect r="r" b="b" t="t" l="l"/>
            <a:pathLst>
              <a:path h="5666438" w="9769720">
                <a:moveTo>
                  <a:pt x="0" y="0"/>
                </a:moveTo>
                <a:lnTo>
                  <a:pt x="9769720" y="0"/>
                </a:lnTo>
                <a:lnTo>
                  <a:pt x="9769720" y="5666438"/>
                </a:lnTo>
                <a:lnTo>
                  <a:pt x="0" y="56664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80038" y="344210"/>
            <a:ext cx="1611406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INSIGHT 4: COMPLAINT ROOT-CAUSE PRIORITIZATION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53480" y="2877117"/>
            <a:ext cx="6531176" cy="304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6424" indent="-228212" lvl="1">
              <a:lnSpc>
                <a:spcPts val="4080"/>
              </a:lnSpc>
              <a:buFont typeface="Arial"/>
              <a:buChar char="•"/>
            </a:pPr>
            <a:r>
              <a:rPr lang="en-US" b="true" sz="2114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Quality Assurance: </a:t>
            </a:r>
            <a:r>
              <a:rPr lang="en-US" sz="2114">
                <a:solidFill>
                  <a:srgbClr val="064663"/>
                </a:solidFill>
                <a:latin typeface="DM Sans"/>
                <a:ea typeface="DM Sans"/>
                <a:cs typeface="DM Sans"/>
                <a:sym typeface="DM Sans"/>
              </a:rPr>
              <a:t>Conduct supplier audits to address the 42.8% quality failure rate.</a:t>
            </a:r>
          </a:p>
          <a:p>
            <a:pPr algn="l" marL="456424" indent="-228212" lvl="1">
              <a:lnSpc>
                <a:spcPts val="4080"/>
              </a:lnSpc>
              <a:buFont typeface="Arial"/>
              <a:buChar char="•"/>
            </a:pPr>
            <a:r>
              <a:rPr lang="en-US" b="true" sz="2114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Design &amp; Ops: </a:t>
            </a:r>
            <a:r>
              <a:rPr lang="en-US" sz="2114">
                <a:solidFill>
                  <a:srgbClr val="064663"/>
                </a:solidFill>
                <a:latin typeface="DM Sans"/>
                <a:ea typeface="DM Sans"/>
                <a:cs typeface="DM Sans"/>
                <a:sym typeface="DM Sans"/>
              </a:rPr>
              <a:t>Review product redesigns and tighten QC checkpoints at all stages.</a:t>
            </a:r>
          </a:p>
          <a:p>
            <a:pPr algn="l" marL="456424" indent="-228212" lvl="1">
              <a:lnSpc>
                <a:spcPts val="4080"/>
              </a:lnSpc>
              <a:buFont typeface="Arial"/>
              <a:buChar char="•"/>
            </a:pPr>
            <a:r>
              <a:rPr lang="en-US" b="true" sz="2114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Inventory: </a:t>
            </a:r>
            <a:r>
              <a:rPr lang="en-US" sz="2114">
                <a:solidFill>
                  <a:srgbClr val="064663"/>
                </a:solidFill>
                <a:latin typeface="DM Sans"/>
                <a:ea typeface="DM Sans"/>
                <a:cs typeface="DM Sans"/>
                <a:sym typeface="DM Sans"/>
              </a:rPr>
              <a:t>Replace poor-performing SKUs marked as "FIX" in the risk matrix.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90435" y="2139971"/>
            <a:ext cx="342557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E47923"/>
                </a:solidFill>
                <a:latin typeface="DM Sans Bold"/>
                <a:ea typeface="DM Sans Bold"/>
                <a:cs typeface="DM Sans Bold"/>
                <a:sym typeface="DM Sans Bold"/>
              </a:rPr>
              <a:t>Recommended Action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36826" y="9595381"/>
            <a:ext cx="7315200" cy="1383238"/>
          </a:xfrm>
          <a:custGeom>
            <a:avLst/>
            <a:gdLst/>
            <a:ahLst/>
            <a:cxnLst/>
            <a:rect r="r" b="b" t="t" l="l"/>
            <a:pathLst>
              <a:path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8"/>
                </a:lnTo>
                <a:lnTo>
                  <a:pt x="0" y="1383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75171" y="1455713"/>
            <a:ext cx="12737659" cy="4001788"/>
          </a:xfrm>
          <a:custGeom>
            <a:avLst/>
            <a:gdLst/>
            <a:ahLst/>
            <a:cxnLst/>
            <a:rect r="r" b="b" t="t" l="l"/>
            <a:pathLst>
              <a:path h="4001788" w="12737659">
                <a:moveTo>
                  <a:pt x="0" y="0"/>
                </a:moveTo>
                <a:lnTo>
                  <a:pt x="12737658" y="0"/>
                </a:lnTo>
                <a:lnTo>
                  <a:pt x="12737658" y="4001787"/>
                </a:lnTo>
                <a:lnTo>
                  <a:pt x="0" y="4001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958" r="0" b="-9110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5128" y="5695625"/>
            <a:ext cx="181659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E47923"/>
                </a:solidFill>
                <a:latin typeface="DM Sans Bold"/>
                <a:ea typeface="DM Sans Bold"/>
                <a:cs typeface="DM Sans Bold"/>
                <a:sym typeface="DM Sans Bold"/>
              </a:rPr>
              <a:t>Automation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434" y="6241726"/>
            <a:ext cx="6865130" cy="155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4246"/>
              </a:lnSpc>
              <a:buFont typeface="Arial"/>
              <a:buChar char="•"/>
            </a:pPr>
            <a:r>
              <a:rPr lang="en-US" b="true" sz="2200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Da</a:t>
            </a:r>
            <a:r>
              <a:rPr lang="en-US" b="true" sz="2200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ily: Detect new hazards</a:t>
            </a:r>
          </a:p>
          <a:p>
            <a:pPr algn="l" marL="474981" indent="-237491" lvl="1">
              <a:lnSpc>
                <a:spcPts val="4246"/>
              </a:lnSpc>
              <a:buFont typeface="Arial"/>
              <a:buChar char="•"/>
            </a:pPr>
            <a:r>
              <a:rPr lang="en-US" b="true" sz="2200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Weekly: Review medium/high-risk products</a:t>
            </a:r>
          </a:p>
          <a:p>
            <a:pPr algn="l" marL="474981" indent="-237491" lvl="1">
              <a:lnSpc>
                <a:spcPts val="4246"/>
              </a:lnSpc>
              <a:buFont typeface="Arial"/>
              <a:buChar char="•"/>
            </a:pPr>
            <a:r>
              <a:rPr lang="en-US" b="true" sz="2200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Monthly: Trend analysis &amp; updates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67427" y="5695625"/>
            <a:ext cx="255314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E47923"/>
                </a:solidFill>
                <a:latin typeface="DM Sans Bold"/>
                <a:ea typeface="DM Sans Bold"/>
                <a:cs typeface="DM Sans Bold"/>
                <a:sym typeface="DM Sans Bold"/>
              </a:rPr>
              <a:t>Decision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42565" y="6241726"/>
            <a:ext cx="9990541" cy="3691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4246"/>
              </a:lnSpc>
              <a:buFont typeface="Arial"/>
              <a:buChar char="•"/>
            </a:pPr>
            <a:r>
              <a:rPr lang="en-US" b="true" sz="2200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Low Risk → No Action</a:t>
            </a:r>
          </a:p>
          <a:p>
            <a:pPr algn="l" marL="474981" indent="-237491" lvl="1">
              <a:lnSpc>
                <a:spcPts val="4246"/>
              </a:lnSpc>
              <a:buFont typeface="Arial"/>
              <a:buChar char="•"/>
            </a:pPr>
            <a:r>
              <a:rPr lang="en-US" b="true" sz="2200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Medium Risk → Monitor</a:t>
            </a:r>
          </a:p>
          <a:p>
            <a:pPr algn="l" marL="474981" indent="-237491" lvl="1">
              <a:lnSpc>
                <a:spcPts val="4246"/>
              </a:lnSpc>
              <a:buFont typeface="Arial"/>
              <a:buChar char="•"/>
            </a:pPr>
            <a:r>
              <a:rPr lang="en-US" b="true" sz="2200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High Risk → Investigate </a:t>
            </a:r>
          </a:p>
          <a:p>
            <a:pPr algn="l" marL="949962" indent="-316654" lvl="2">
              <a:lnSpc>
                <a:spcPts val="4246"/>
              </a:lnSpc>
              <a:buFont typeface="Arial"/>
              <a:buChar char="⚬"/>
            </a:pPr>
            <a:r>
              <a:rPr lang="en-US" b="true" sz="2200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Remove Product</a:t>
            </a:r>
          </a:p>
          <a:p>
            <a:pPr algn="l" marL="949962" indent="-316654" lvl="2">
              <a:lnSpc>
                <a:spcPts val="4246"/>
              </a:lnSpc>
              <a:buFont typeface="Arial"/>
              <a:buChar char="⚬"/>
            </a:pPr>
            <a:r>
              <a:rPr lang="en-US" b="true" sz="2200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Shadow Ban (Not showing on the recommender system except have the link)</a:t>
            </a:r>
          </a:p>
          <a:p>
            <a:pPr algn="l" marL="949962" indent="-316654" lvl="2">
              <a:lnSpc>
                <a:spcPts val="4246"/>
              </a:lnSpc>
              <a:buFont typeface="Arial"/>
              <a:buChar char="⚬"/>
            </a:pPr>
            <a:r>
              <a:rPr lang="en-US" b="true" sz="2200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Flag Seller (Show popup when user get in the product detail page)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9820" y="351552"/>
            <a:ext cx="713253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INSIGHT 5: FOOD SAFETY INTELLIGENCE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5" r="0" b="-176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8610" y="2598370"/>
            <a:ext cx="5855779" cy="5855779"/>
          </a:xfrm>
          <a:custGeom>
            <a:avLst/>
            <a:gdLst/>
            <a:ahLst/>
            <a:cxnLst/>
            <a:rect r="r" b="b" t="t" l="l"/>
            <a:pathLst>
              <a:path h="5855779" w="5855779">
                <a:moveTo>
                  <a:pt x="0" y="0"/>
                </a:moveTo>
                <a:lnTo>
                  <a:pt x="5855779" y="0"/>
                </a:lnTo>
                <a:lnTo>
                  <a:pt x="5855779" y="5855779"/>
                </a:lnTo>
                <a:lnTo>
                  <a:pt x="0" y="5855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2658292" y="771870"/>
            <a:ext cx="12798869" cy="8937280"/>
            <a:chOff x="0" y="0"/>
            <a:chExt cx="660400" cy="4611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461149"/>
            </a:xfrm>
            <a:custGeom>
              <a:avLst/>
              <a:gdLst/>
              <a:ahLst/>
              <a:cxnLst/>
              <a:rect r="r" b="b" t="t" l="l"/>
              <a:pathLst>
                <a:path h="461149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66675" cap="sq">
              <a:solidFill>
                <a:srgbClr val="BEC8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8610" y="2312620"/>
            <a:ext cx="5855779" cy="585577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584389" y="11889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584389" y="1099966"/>
            <a:ext cx="1216244" cy="12162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197129" y="6351882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197129" y="6262859"/>
            <a:ext cx="1216244" cy="12162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197129" y="2810927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197129" y="2721904"/>
            <a:ext cx="1216244" cy="12162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584389" y="79707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584389" y="7881766"/>
            <a:ext cx="1216244" cy="121624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601661" y="45798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7601661" y="4490866"/>
            <a:ext cx="1216244" cy="121624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976824" y="1448022"/>
            <a:ext cx="431374" cy="517391"/>
          </a:xfrm>
          <a:custGeom>
            <a:avLst/>
            <a:gdLst/>
            <a:ahLst/>
            <a:cxnLst/>
            <a:rect r="r" b="b" t="t" l="l"/>
            <a:pathLst>
              <a:path h="517391" w="431374">
                <a:moveTo>
                  <a:pt x="0" y="0"/>
                </a:moveTo>
                <a:lnTo>
                  <a:pt x="431374" y="0"/>
                </a:lnTo>
                <a:lnTo>
                  <a:pt x="431374" y="517391"/>
                </a:lnTo>
                <a:lnTo>
                  <a:pt x="0" y="517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939259" y="8232019"/>
            <a:ext cx="515739" cy="515739"/>
          </a:xfrm>
          <a:custGeom>
            <a:avLst/>
            <a:gdLst/>
            <a:ahLst/>
            <a:cxnLst/>
            <a:rect r="r" b="b" t="t" l="l"/>
            <a:pathLst>
              <a:path h="515739" w="515739">
                <a:moveTo>
                  <a:pt x="0" y="0"/>
                </a:moveTo>
                <a:lnTo>
                  <a:pt x="515740" y="0"/>
                </a:lnTo>
                <a:lnTo>
                  <a:pt x="515740" y="515739"/>
                </a:lnTo>
                <a:lnTo>
                  <a:pt x="0" y="5157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505196" y="6570925"/>
            <a:ext cx="600110" cy="600110"/>
          </a:xfrm>
          <a:custGeom>
            <a:avLst/>
            <a:gdLst/>
            <a:ahLst/>
            <a:cxnLst/>
            <a:rect r="r" b="b" t="t" l="l"/>
            <a:pathLst>
              <a:path h="600110" w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505196" y="3074482"/>
            <a:ext cx="600110" cy="600110"/>
          </a:xfrm>
          <a:custGeom>
            <a:avLst/>
            <a:gdLst/>
            <a:ahLst/>
            <a:cxnLst/>
            <a:rect r="r" b="b" t="t" l="l"/>
            <a:pathLst>
              <a:path h="600110" w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949354" y="4825984"/>
            <a:ext cx="520857" cy="543267"/>
          </a:xfrm>
          <a:custGeom>
            <a:avLst/>
            <a:gdLst/>
            <a:ahLst/>
            <a:cxnLst/>
            <a:rect r="r" b="b" t="t" l="l"/>
            <a:pathLst>
              <a:path h="543267" w="520857">
                <a:moveTo>
                  <a:pt x="0" y="0"/>
                </a:moveTo>
                <a:lnTo>
                  <a:pt x="520858" y="0"/>
                </a:lnTo>
                <a:lnTo>
                  <a:pt x="520858" y="543267"/>
                </a:lnTo>
                <a:lnTo>
                  <a:pt x="0" y="543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151390" y="4270014"/>
            <a:ext cx="4742818" cy="170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51"/>
              </a:lnSpc>
              <a:spcBef>
                <a:spcPct val="0"/>
              </a:spcBef>
            </a:pPr>
            <a:r>
              <a:rPr lang="en-US" sz="6047" strike="noStrike" u="none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CONTENT OF PRESENTATION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65489" y="13669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65489" y="81487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13373" y="2988910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413373" y="6547181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17905" y="47578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60290" y="1416015"/>
            <a:ext cx="52488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Problem &amp; Motivation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65026" y="8202767"/>
            <a:ext cx="886667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76A89"/>
                </a:solidFill>
                <a:latin typeface="TT Fors Bold"/>
                <a:ea typeface="TT Fors Bold"/>
                <a:cs typeface="TT Fors Bold"/>
                <a:sym typeface="TT Fors Bold"/>
              </a:rPr>
              <a:t>Conclusion + </a:t>
            </a:r>
            <a:r>
              <a:rPr lang="en-US" b="true" sz="3000">
                <a:solidFill>
                  <a:srgbClr val="376A89"/>
                </a:solidFill>
                <a:latin typeface="TT Fors Bold"/>
                <a:ea typeface="TT Fors Bold"/>
                <a:cs typeface="TT Fors Bold"/>
                <a:sym typeface="TT Fors Bold"/>
              </a:rPr>
              <a:t>Limitations + Future Work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27153" y="3017332"/>
            <a:ext cx="52488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Data &amp; Processing Setup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08174" y="6662453"/>
            <a:ext cx="52488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Results &amp; Decision Value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579578" y="4617532"/>
            <a:ext cx="683756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Technical Design and Methodology &amp; Scoring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1807" y="2551280"/>
            <a:ext cx="15098167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824"/>
              </a:lnSpc>
              <a:buFont typeface="Arial"/>
              <a:buChar char="•"/>
            </a:pP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Using Mongodb and processing dataset with NLP</a:t>
            </a:r>
          </a:p>
          <a:p>
            <a:pPr algn="l" marL="539749" indent="-269875" lvl="1">
              <a:lnSpc>
                <a:spcPts val="4824"/>
              </a:lnSpc>
              <a:buFont typeface="Arial"/>
              <a:buChar char="•"/>
            </a:pP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Food Safety Intelligence : D</a:t>
            </a: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etected hidden risks using Fine-tuned MiniLM and DeBERTa pipeline</a:t>
            </a:r>
          </a:p>
          <a:p>
            <a:pPr algn="l" marL="539749" indent="-269875" lvl="1">
              <a:lnSpc>
                <a:spcPts val="4824"/>
              </a:lnSpc>
              <a:buFont typeface="Arial"/>
              <a:buChar char="•"/>
            </a:pP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Business Intelligence : Generated measurable business value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59565" y="628650"/>
            <a:ext cx="1141567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5000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Conclusion + Limitations + Future Work 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01807" y="2014070"/>
            <a:ext cx="2047754" cy="546735"/>
            <a:chOff x="0" y="0"/>
            <a:chExt cx="1568809" cy="4188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8809" cy="418860"/>
            </a:xfrm>
            <a:custGeom>
              <a:avLst/>
              <a:gdLst/>
              <a:ahLst/>
              <a:cxnLst/>
              <a:rect r="r" b="b" t="t" l="l"/>
              <a:pathLst>
                <a:path h="418860" w="1568809">
                  <a:moveTo>
                    <a:pt x="1365609" y="0"/>
                  </a:moveTo>
                  <a:lnTo>
                    <a:pt x="0" y="0"/>
                  </a:lnTo>
                  <a:lnTo>
                    <a:pt x="0" y="418860"/>
                  </a:lnTo>
                  <a:lnTo>
                    <a:pt x="1365609" y="418860"/>
                  </a:lnTo>
                  <a:lnTo>
                    <a:pt x="1568809" y="209430"/>
                  </a:lnTo>
                  <a:lnTo>
                    <a:pt x="1365609" y="0"/>
                  </a:lnTo>
                  <a:close/>
                </a:path>
              </a:pathLst>
            </a:custGeom>
            <a:solidFill>
              <a:srgbClr val="06466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47650"/>
              <a:ext cx="1454509" cy="666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24"/>
                </a:lnSpc>
              </a:pPr>
              <a:r>
                <a:rPr lang="en-US" b="true" sz="24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01807" y="4491597"/>
            <a:ext cx="2047754" cy="546735"/>
            <a:chOff x="0" y="0"/>
            <a:chExt cx="1568809" cy="4188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8809" cy="418860"/>
            </a:xfrm>
            <a:custGeom>
              <a:avLst/>
              <a:gdLst/>
              <a:ahLst/>
              <a:cxnLst/>
              <a:rect r="r" b="b" t="t" l="l"/>
              <a:pathLst>
                <a:path h="418860" w="1568809">
                  <a:moveTo>
                    <a:pt x="1365609" y="0"/>
                  </a:moveTo>
                  <a:lnTo>
                    <a:pt x="0" y="0"/>
                  </a:lnTo>
                  <a:lnTo>
                    <a:pt x="0" y="418860"/>
                  </a:lnTo>
                  <a:lnTo>
                    <a:pt x="1365609" y="418860"/>
                  </a:lnTo>
                  <a:lnTo>
                    <a:pt x="1568809" y="209430"/>
                  </a:lnTo>
                  <a:lnTo>
                    <a:pt x="1365609" y="0"/>
                  </a:lnTo>
                  <a:close/>
                </a:path>
              </a:pathLst>
            </a:custGeom>
            <a:solidFill>
              <a:srgbClr val="06466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47650"/>
              <a:ext cx="1454509" cy="666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24"/>
                </a:lnSpc>
              </a:pPr>
              <a:r>
                <a:rPr lang="en-US" b="true" sz="24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Limitations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01807" y="4962525"/>
            <a:ext cx="10827841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824"/>
              </a:lnSpc>
              <a:buFont typeface="Arial"/>
              <a:buChar char="•"/>
            </a:pP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User-generated reviews may contain noise / bias / fake signals</a:t>
            </a:r>
          </a:p>
          <a:p>
            <a:pPr algn="l" marL="539749" indent="-269875" lvl="1">
              <a:lnSpc>
                <a:spcPts val="4824"/>
              </a:lnSpc>
              <a:buFont typeface="Arial"/>
              <a:buChar char="•"/>
            </a:pP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No direct linkage with sales, refund, or ERP data</a:t>
            </a:r>
          </a:p>
          <a:p>
            <a:pPr algn="l" marL="539749" indent="-269875" lvl="1">
              <a:lnSpc>
                <a:spcPts val="4824"/>
              </a:lnSpc>
              <a:buFont typeface="Arial"/>
              <a:buChar char="•"/>
            </a:pP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Buiness Intellegence’s s</a:t>
            </a: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entiment labels are proxy labels from score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01807" y="6911975"/>
            <a:ext cx="2403845" cy="546735"/>
            <a:chOff x="0" y="0"/>
            <a:chExt cx="1841615" cy="4188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41615" cy="418860"/>
            </a:xfrm>
            <a:custGeom>
              <a:avLst/>
              <a:gdLst/>
              <a:ahLst/>
              <a:cxnLst/>
              <a:rect r="r" b="b" t="t" l="l"/>
              <a:pathLst>
                <a:path h="418860" w="1841615">
                  <a:moveTo>
                    <a:pt x="1638415" y="0"/>
                  </a:moveTo>
                  <a:lnTo>
                    <a:pt x="0" y="0"/>
                  </a:lnTo>
                  <a:lnTo>
                    <a:pt x="0" y="418860"/>
                  </a:lnTo>
                  <a:lnTo>
                    <a:pt x="1638415" y="418860"/>
                  </a:lnTo>
                  <a:lnTo>
                    <a:pt x="1841615" y="209430"/>
                  </a:lnTo>
                  <a:lnTo>
                    <a:pt x="1638415" y="0"/>
                  </a:lnTo>
                  <a:close/>
                </a:path>
              </a:pathLst>
            </a:custGeom>
            <a:solidFill>
              <a:srgbClr val="06466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47650"/>
              <a:ext cx="1727315" cy="666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24"/>
                </a:lnSpc>
              </a:pPr>
              <a:r>
                <a:rPr lang="en-US" b="true" sz="24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Future work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01807" y="7334885"/>
            <a:ext cx="15151150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824"/>
              </a:lnSpc>
              <a:buFont typeface="Arial"/>
              <a:buChar char="•"/>
            </a:pP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Ex</a:t>
            </a: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pand minority hazard class data</a:t>
            </a:r>
          </a:p>
          <a:p>
            <a:pPr algn="l" marL="539749" indent="-269875" lvl="1">
              <a:lnSpc>
                <a:spcPts val="4824"/>
              </a:lnSpc>
              <a:buFont typeface="Arial"/>
              <a:buChar char="•"/>
            </a:pP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Multi-label hazard classification</a:t>
            </a:r>
          </a:p>
          <a:p>
            <a:pPr algn="l" marL="539749" indent="-269875" lvl="1">
              <a:lnSpc>
                <a:spcPts val="4824"/>
              </a:lnSpc>
              <a:buFont typeface="Arial"/>
              <a:buChar char="•"/>
            </a:pPr>
            <a:r>
              <a:rPr lang="en-US" b="true" sz="2499">
                <a:solidFill>
                  <a:srgbClr val="064663"/>
                </a:solidFill>
                <a:latin typeface="DM Sans Bold"/>
                <a:ea typeface="DM Sans Bold"/>
                <a:cs typeface="DM Sans Bold"/>
                <a:sym typeface="DM Sans Bold"/>
              </a:rPr>
              <a:t>Replace sentiment proxy with manually labeled sentiment data or stronger transformer models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18251" y="-157295"/>
            <a:ext cx="7826559" cy="1479931"/>
          </a:xfrm>
          <a:custGeom>
            <a:avLst/>
            <a:gdLst/>
            <a:ahLst/>
            <a:cxnLst/>
            <a:rect r="r" b="b" t="t" l="l"/>
            <a:pathLst>
              <a:path h="1479931" w="7826559">
                <a:moveTo>
                  <a:pt x="0" y="0"/>
                </a:moveTo>
                <a:lnTo>
                  <a:pt x="7826560" y="0"/>
                </a:lnTo>
                <a:lnTo>
                  <a:pt x="7826560" y="1479931"/>
                </a:lnTo>
                <a:lnTo>
                  <a:pt x="0" y="1479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077400" y="628650"/>
            <a:ext cx="849440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1912" y="1601921"/>
            <a:ext cx="14238323" cy="381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5124"/>
              </a:lnSpc>
              <a:buAutoNum type="arabicPeriod" startAt="1"/>
            </a:pPr>
            <a:r>
              <a:rPr lang="en-US" b="true" sz="2499" strike="noStrike" u="none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https://ieeexplore.ieee.org/stamp/stamp.jsp?tp=&amp;arnumber=9716410</a:t>
            </a:r>
          </a:p>
          <a:p>
            <a:pPr algn="l" marL="539749" indent="-269875" lvl="1">
              <a:lnSpc>
                <a:spcPts val="5124"/>
              </a:lnSpc>
              <a:buAutoNum type="arabicPeriod" startAt="1"/>
            </a:pPr>
            <a:r>
              <a:rPr lang="en-US" b="true" sz="2499" strike="noStrike" u="none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https://www.mdpi.com/2079-9292/13/7/1305</a:t>
            </a:r>
          </a:p>
          <a:p>
            <a:pPr algn="l" marL="539749" indent="-269875" lvl="1">
              <a:lnSpc>
                <a:spcPts val="5124"/>
              </a:lnSpc>
              <a:buAutoNum type="arabicPeriod" startAt="1"/>
            </a:pPr>
            <a:r>
              <a:rPr lang="en-US" b="true" sz="2499" strike="noStrike" u="none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https://ieeexplore.ieee.org/stamp/stamp.jsp?arnumber=8376299</a:t>
            </a:r>
          </a:p>
          <a:p>
            <a:pPr algn="l" marL="539749" indent="-269875" lvl="1">
              <a:lnSpc>
                <a:spcPts val="5124"/>
              </a:lnSpc>
              <a:buAutoNum type="arabicPeriod" startAt="1"/>
            </a:pPr>
            <a:r>
              <a:rPr lang="en-US" b="true" sz="2499" strike="noStrike" u="none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https://aclanthology.org/W02-1011/</a:t>
            </a:r>
          </a:p>
          <a:p>
            <a:pPr algn="l" marL="539749" indent="-269875" lvl="1">
              <a:lnSpc>
                <a:spcPts val="5124"/>
              </a:lnSpc>
              <a:buAutoNum type="arabicPeriod" startAt="1"/>
            </a:pPr>
            <a:r>
              <a:rPr lang="en-US" b="true" sz="2499" strike="noStrike" u="none">
                <a:solidFill>
                  <a:srgbClr val="064663"/>
                </a:solidFill>
                <a:latin typeface="TT Fors Bold"/>
                <a:ea typeface="TT Fors Bold"/>
                <a:cs typeface="TT Fors Bold"/>
                <a:sym typeface="TT Fors Bold"/>
              </a:rPr>
              <a:t>https://www.kaggle.com/datasets/snap/amazon-fine-food-reviews?select=Reviews.csv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00862" y="-883143"/>
            <a:ext cx="8667341" cy="5763782"/>
          </a:xfrm>
          <a:custGeom>
            <a:avLst/>
            <a:gdLst/>
            <a:ahLst/>
            <a:cxnLst/>
            <a:rect r="r" b="b" t="t" l="l"/>
            <a:pathLst>
              <a:path h="5763782" w="8667341">
                <a:moveTo>
                  <a:pt x="0" y="0"/>
                </a:moveTo>
                <a:lnTo>
                  <a:pt x="8667342" y="0"/>
                </a:lnTo>
                <a:lnTo>
                  <a:pt x="8667342" y="5763782"/>
                </a:lnTo>
                <a:lnTo>
                  <a:pt x="0" y="5763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5594226" y="1715873"/>
            <a:ext cx="4938744" cy="1390789"/>
            <a:chOff x="0" y="0"/>
            <a:chExt cx="1300739" cy="3662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0739" cy="366298"/>
            </a:xfrm>
            <a:custGeom>
              <a:avLst/>
              <a:gdLst/>
              <a:ahLst/>
              <a:cxnLst/>
              <a:rect r="r" b="b" t="t" l="l"/>
              <a:pathLst>
                <a:path h="366298" w="1300739">
                  <a:moveTo>
                    <a:pt x="0" y="0"/>
                  </a:moveTo>
                  <a:lnTo>
                    <a:pt x="1300739" y="0"/>
                  </a:lnTo>
                  <a:lnTo>
                    <a:pt x="1300739" y="366298"/>
                  </a:lnTo>
                  <a:lnTo>
                    <a:pt x="0" y="366298"/>
                  </a:lnTo>
                  <a:close/>
                </a:path>
              </a:pathLst>
            </a:custGeom>
            <a:solidFill>
              <a:srgbClr val="06466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00739" cy="404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rot="0">
            <a:off x="-317227" y="9258300"/>
            <a:ext cx="19867943" cy="0"/>
          </a:xfrm>
          <a:prstGeom prst="line">
            <a:avLst/>
          </a:prstGeom>
          <a:ln cap="flat" w="38100">
            <a:solidFill>
              <a:srgbClr val="0646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1629497" y="0"/>
            <a:ext cx="7826559" cy="1479931"/>
          </a:xfrm>
          <a:custGeom>
            <a:avLst/>
            <a:gdLst/>
            <a:ahLst/>
            <a:cxnLst/>
            <a:rect r="r" b="b" t="t" l="l"/>
            <a:pathLst>
              <a:path h="1479931" w="7826559">
                <a:moveTo>
                  <a:pt x="0" y="0"/>
                </a:moveTo>
                <a:lnTo>
                  <a:pt x="7826560" y="0"/>
                </a:lnTo>
                <a:lnTo>
                  <a:pt x="7826560" y="1479931"/>
                </a:lnTo>
                <a:lnTo>
                  <a:pt x="0" y="1479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15706060" y="2031039"/>
            <a:ext cx="4160944" cy="76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7"/>
              </a:lnSpc>
            </a:pPr>
            <a:r>
              <a:rPr lang="en-US" sz="5252">
                <a:solidFill>
                  <a:srgbClr val="FFFFFF"/>
                </a:solidFill>
                <a:latin typeface="Bobby Jones"/>
                <a:ea typeface="Bobby Jones"/>
                <a:cs typeface="Bobby Jones"/>
                <a:sym typeface="Bobby Jones"/>
              </a:rPr>
              <a:t>TESTIMONIALS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49053" y="4903820"/>
            <a:ext cx="849602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64663"/>
                </a:solidFill>
                <a:latin typeface="Bobby Jones"/>
                <a:ea typeface="Bobby Jones"/>
                <a:cs typeface="Bobby Jones"/>
                <a:sym typeface="Bobby Jones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06625" y="7311698"/>
            <a:ext cx="291235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Client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11726" y="7311698"/>
            <a:ext cx="291235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Client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11726" y="6805471"/>
            <a:ext cx="291235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true">
                <a:solidFill>
                  <a:srgbClr val="FFFFFF"/>
                </a:solidFill>
                <a:latin typeface="Rubik Medium"/>
                <a:ea typeface="Rubik Medium"/>
                <a:cs typeface="Rubik Medium"/>
                <a:sym typeface="Rubik Medium"/>
              </a:rPr>
              <a:t>Murad Naser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DAHHSYyeK6I</dc:identifier>
  <dcterms:modified xsi:type="dcterms:W3CDTF">2011-08-01T06:04:30Z</dcterms:modified>
  <cp:revision>1</cp:revision>
  <dc:title>Big Data</dc:title>
</cp:coreProperties>
</file>